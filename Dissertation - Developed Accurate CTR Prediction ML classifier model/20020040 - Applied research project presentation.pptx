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Nourd" pitchFamily="2" charset="77"/>
      <p:regular r:id="rId11"/>
    </p:embeddedFont>
    <p:embeddedFont>
      <p:font typeface="Nourd Bold" pitchFamily="2" charset="77"/>
      <p:regular r:id="rId12"/>
      <p:bold r:id="rId13"/>
    </p:embeddedFont>
    <p:embeddedFont>
      <p:font typeface="Nourd Semi-Bold" pitchFamily="2" charset="77"/>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4681" autoAdjust="0"/>
  </p:normalViewPr>
  <p:slideViewPr>
    <p:cSldViewPr>
      <p:cViewPr varScale="1">
        <p:scale>
          <a:sx n="77" d="100"/>
          <a:sy n="77" d="100"/>
        </p:scale>
        <p:origin x="50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BEC6A8-AA96-FA46-8D28-A39C2CC7E026}" type="datetimeFigureOut">
              <a:rPr lang="en-US" smtClean="0"/>
              <a:t>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7B3E46-7B0A-C048-B018-9F574D75E0B2}" type="slidenum">
              <a:rPr lang="en-US" smtClean="0"/>
              <a:t>‹#›</a:t>
            </a:fld>
            <a:endParaRPr lang="en-US"/>
          </a:p>
        </p:txBody>
      </p:sp>
    </p:spTree>
    <p:extLst>
      <p:ext uri="{BB962C8B-B14F-4D97-AF65-F5344CB8AC3E}">
        <p14:creationId xmlns:p14="http://schemas.microsoft.com/office/powerpoint/2010/main" val="2201930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7B3E46-7B0A-C048-B018-9F574D75E0B2}" type="slidenum">
              <a:rPr lang="en-US" smtClean="0"/>
              <a:t>8</a:t>
            </a:fld>
            <a:endParaRPr lang="en-US"/>
          </a:p>
        </p:txBody>
      </p:sp>
    </p:spTree>
    <p:extLst>
      <p:ext uri="{BB962C8B-B14F-4D97-AF65-F5344CB8AC3E}">
        <p14:creationId xmlns:p14="http://schemas.microsoft.com/office/powerpoint/2010/main" val="2130039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6.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7.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2283106" y="2397350"/>
            <a:ext cx="5852900" cy="5972346"/>
          </a:xfrm>
          <a:custGeom>
            <a:avLst/>
            <a:gdLst/>
            <a:ahLst/>
            <a:cxnLst/>
            <a:rect l="l" t="t" r="r" b="b"/>
            <a:pathLst>
              <a:path w="5852900" h="5972346">
                <a:moveTo>
                  <a:pt x="0" y="0"/>
                </a:moveTo>
                <a:lnTo>
                  <a:pt x="5852900" y="0"/>
                </a:lnTo>
                <a:lnTo>
                  <a:pt x="5852900" y="5972347"/>
                </a:lnTo>
                <a:lnTo>
                  <a:pt x="0" y="59723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10657400" y="1202667"/>
            <a:ext cx="7630600" cy="9084333"/>
          </a:xfrm>
          <a:prstGeom prst="rect">
            <a:avLst/>
          </a:prstGeom>
          <a:solidFill>
            <a:srgbClr val="EDF0F2"/>
          </a:solidFill>
        </p:spPr>
        <p:txBody>
          <a:bodyPr/>
          <a:lstStyle/>
          <a:p>
            <a:endParaRPr lang="en-US"/>
          </a:p>
        </p:txBody>
      </p:sp>
      <p:sp>
        <p:nvSpPr>
          <p:cNvPr id="4" name="Freeform 4"/>
          <p:cNvSpPr/>
          <p:nvPr/>
        </p:nvSpPr>
        <p:spPr>
          <a:xfrm rot="2358333">
            <a:off x="11969795" y="6198356"/>
            <a:ext cx="909316" cy="801852"/>
          </a:xfrm>
          <a:custGeom>
            <a:avLst/>
            <a:gdLst/>
            <a:ahLst/>
            <a:cxnLst/>
            <a:rect l="l" t="t" r="r" b="b"/>
            <a:pathLst>
              <a:path w="909316" h="801852">
                <a:moveTo>
                  <a:pt x="0" y="0"/>
                </a:moveTo>
                <a:lnTo>
                  <a:pt x="909317" y="0"/>
                </a:lnTo>
                <a:lnTo>
                  <a:pt x="909317" y="801852"/>
                </a:lnTo>
                <a:lnTo>
                  <a:pt x="0" y="8018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rot="2358333">
            <a:off x="11969795" y="8259140"/>
            <a:ext cx="909316" cy="801852"/>
          </a:xfrm>
          <a:custGeom>
            <a:avLst/>
            <a:gdLst/>
            <a:ahLst/>
            <a:cxnLst/>
            <a:rect l="l" t="t" r="r" b="b"/>
            <a:pathLst>
              <a:path w="909316" h="801852">
                <a:moveTo>
                  <a:pt x="0" y="0"/>
                </a:moveTo>
                <a:lnTo>
                  <a:pt x="909317" y="0"/>
                </a:lnTo>
                <a:lnTo>
                  <a:pt x="909317" y="801852"/>
                </a:lnTo>
                <a:lnTo>
                  <a:pt x="0" y="8018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AutoShape 6"/>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7" name="AutoShape 7"/>
          <p:cNvSpPr/>
          <p:nvPr/>
        </p:nvSpPr>
        <p:spPr>
          <a:xfrm rot="-5401802">
            <a:off x="6122382" y="5740066"/>
            <a:ext cx="9084323"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8" name="Freeform 8"/>
          <p:cNvSpPr/>
          <p:nvPr/>
        </p:nvSpPr>
        <p:spPr>
          <a:xfrm>
            <a:off x="13182600" y="1644748"/>
            <a:ext cx="4561541" cy="855289"/>
          </a:xfrm>
          <a:custGeom>
            <a:avLst/>
            <a:gdLst/>
            <a:ahLst/>
            <a:cxnLst/>
            <a:rect l="l" t="t" r="r" b="b"/>
            <a:pathLst>
              <a:path w="4561541" h="855289">
                <a:moveTo>
                  <a:pt x="0" y="0"/>
                </a:moveTo>
                <a:lnTo>
                  <a:pt x="4561540" y="0"/>
                </a:lnTo>
                <a:lnTo>
                  <a:pt x="4561540" y="855288"/>
                </a:lnTo>
                <a:lnTo>
                  <a:pt x="0" y="8552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TextBox 11"/>
          <p:cNvSpPr txBox="1"/>
          <p:nvPr/>
        </p:nvSpPr>
        <p:spPr>
          <a:xfrm>
            <a:off x="1401893" y="4723797"/>
            <a:ext cx="7615325" cy="995260"/>
          </a:xfrm>
          <a:prstGeom prst="rect">
            <a:avLst/>
          </a:prstGeom>
        </p:spPr>
        <p:txBody>
          <a:bodyPr lIns="0" tIns="0" rIns="0" bIns="0" rtlCol="0" anchor="t">
            <a:spAutoFit/>
          </a:bodyPr>
          <a:lstStyle/>
          <a:p>
            <a:pPr algn="ctr">
              <a:lnSpc>
                <a:spcPts val="7852"/>
              </a:lnSpc>
            </a:pPr>
            <a:r>
              <a:rPr lang="en-US" sz="6543" dirty="0">
                <a:solidFill>
                  <a:srgbClr val="2C2C2C"/>
                </a:solidFill>
                <a:latin typeface="Nourd Semi-Bold"/>
                <a:ea typeface="Nourd Semi-Bold"/>
                <a:cs typeface="Nourd Semi-Bold"/>
                <a:sym typeface="Nourd Semi-Bold"/>
              </a:rPr>
              <a:t>Digital Advertising</a:t>
            </a:r>
          </a:p>
        </p:txBody>
      </p:sp>
      <p:grpSp>
        <p:nvGrpSpPr>
          <p:cNvPr id="12" name="Group 12"/>
          <p:cNvGrpSpPr/>
          <p:nvPr/>
        </p:nvGrpSpPr>
        <p:grpSpPr>
          <a:xfrm>
            <a:off x="13358241" y="6189039"/>
            <a:ext cx="3768479" cy="820453"/>
            <a:chOff x="0" y="0"/>
            <a:chExt cx="5024639" cy="1093937"/>
          </a:xfrm>
        </p:grpSpPr>
        <p:sp>
          <p:nvSpPr>
            <p:cNvPr id="13" name="TextBox 13"/>
            <p:cNvSpPr txBox="1"/>
            <p:nvPr/>
          </p:nvSpPr>
          <p:spPr>
            <a:xfrm>
              <a:off x="0" y="546779"/>
              <a:ext cx="5024639" cy="547158"/>
            </a:xfrm>
            <a:prstGeom prst="rect">
              <a:avLst/>
            </a:prstGeom>
          </p:spPr>
          <p:txBody>
            <a:bodyPr lIns="0" tIns="0" rIns="0" bIns="0" rtlCol="0" anchor="t">
              <a:spAutoFit/>
            </a:bodyPr>
            <a:lstStyle/>
            <a:p>
              <a:pPr algn="l">
                <a:lnSpc>
                  <a:spcPts val="3500"/>
                </a:lnSpc>
              </a:pPr>
              <a:r>
                <a:rPr lang="en-US" sz="2500">
                  <a:solidFill>
                    <a:srgbClr val="2C2C2C"/>
                  </a:solidFill>
                  <a:latin typeface="Nourd Bold"/>
                  <a:ea typeface="Nourd Bold"/>
                  <a:cs typeface="Nourd Bold"/>
                  <a:sym typeface="Nourd Bold"/>
                </a:rPr>
                <a:t>Akash Jayakumar</a:t>
              </a:r>
            </a:p>
          </p:txBody>
        </p:sp>
        <p:sp>
          <p:nvSpPr>
            <p:cNvPr id="14" name="TextBox 14"/>
            <p:cNvSpPr txBox="1"/>
            <p:nvPr/>
          </p:nvSpPr>
          <p:spPr>
            <a:xfrm>
              <a:off x="0" y="-47603"/>
              <a:ext cx="5024639" cy="547158"/>
            </a:xfrm>
            <a:prstGeom prst="rect">
              <a:avLst/>
            </a:prstGeom>
          </p:spPr>
          <p:txBody>
            <a:bodyPr lIns="0" tIns="0" rIns="0" bIns="0" rtlCol="0" anchor="t">
              <a:spAutoFit/>
            </a:bodyPr>
            <a:lstStyle/>
            <a:p>
              <a:pPr algn="l">
                <a:lnSpc>
                  <a:spcPts val="3500"/>
                </a:lnSpc>
              </a:pPr>
              <a:r>
                <a:rPr lang="en-US" sz="2500">
                  <a:solidFill>
                    <a:srgbClr val="2C2C2C"/>
                  </a:solidFill>
                  <a:latin typeface="Nourd Bold"/>
                  <a:ea typeface="Nourd Bold"/>
                  <a:cs typeface="Nourd Bold"/>
                  <a:sym typeface="Nourd Bold"/>
                </a:rPr>
                <a:t>20020040</a:t>
              </a:r>
            </a:p>
          </p:txBody>
        </p:sp>
      </p:grpSp>
      <p:sp>
        <p:nvSpPr>
          <p:cNvPr id="15" name="TextBox 15"/>
          <p:cNvSpPr txBox="1"/>
          <p:nvPr/>
        </p:nvSpPr>
        <p:spPr>
          <a:xfrm>
            <a:off x="13358241" y="8303196"/>
            <a:ext cx="3768479" cy="776944"/>
          </a:xfrm>
          <a:prstGeom prst="rect">
            <a:avLst/>
          </a:prstGeom>
        </p:spPr>
        <p:txBody>
          <a:bodyPr lIns="0" tIns="0" rIns="0" bIns="0" rtlCol="0" anchor="t">
            <a:spAutoFit/>
          </a:bodyPr>
          <a:lstStyle/>
          <a:p>
            <a:pPr algn="l">
              <a:lnSpc>
                <a:spcPts val="3080"/>
              </a:lnSpc>
            </a:pPr>
            <a:r>
              <a:rPr lang="en-US" sz="2200" dirty="0">
                <a:solidFill>
                  <a:srgbClr val="2C2C2C"/>
                </a:solidFill>
                <a:latin typeface="Nourd Bold"/>
                <a:ea typeface="Nourd Bold"/>
                <a:cs typeface="Nourd Bold"/>
                <a:sym typeface="Nourd Bold"/>
              </a:rPr>
              <a:t>Under the Guidance of:</a:t>
            </a:r>
          </a:p>
          <a:p>
            <a:pPr algn="l">
              <a:lnSpc>
                <a:spcPts val="3080"/>
              </a:lnSpc>
            </a:pPr>
            <a:r>
              <a:rPr lang="en-US" sz="2200" dirty="0">
                <a:solidFill>
                  <a:srgbClr val="2C2C2C"/>
                </a:solidFill>
                <a:latin typeface="Nourd Bold"/>
              </a:rPr>
              <a:t>Dr. David Williams </a:t>
            </a:r>
            <a:r>
              <a:rPr lang="en-US" sz="2200" dirty="0">
                <a:solidFill>
                  <a:srgbClr val="2C2C2C"/>
                </a:solidFill>
                <a:latin typeface="Nourd Bold"/>
                <a:sym typeface="Nourd Bold"/>
              </a:rPr>
              <a:t> </a:t>
            </a:r>
          </a:p>
        </p:txBody>
      </p:sp>
      <p:sp>
        <p:nvSpPr>
          <p:cNvPr id="16" name="TextBox 16"/>
          <p:cNvSpPr txBox="1"/>
          <p:nvPr/>
        </p:nvSpPr>
        <p:spPr>
          <a:xfrm>
            <a:off x="11295778" y="1724094"/>
            <a:ext cx="6587356" cy="629920"/>
          </a:xfrm>
          <a:prstGeom prst="rect">
            <a:avLst/>
          </a:prstGeom>
        </p:spPr>
        <p:txBody>
          <a:bodyPr lIns="0" tIns="0" rIns="0" bIns="0" rtlCol="0" anchor="t">
            <a:spAutoFit/>
          </a:bodyPr>
          <a:lstStyle/>
          <a:p>
            <a:pPr algn="l">
              <a:lnSpc>
                <a:spcPts val="5179"/>
              </a:lnSpc>
            </a:pPr>
            <a:r>
              <a:rPr lang="en-US" sz="3699" dirty="0">
                <a:solidFill>
                  <a:srgbClr val="2C2C2C"/>
                </a:solidFill>
                <a:latin typeface="Nourd Bold"/>
                <a:ea typeface="Nourd Bold"/>
                <a:cs typeface="Nourd Bold"/>
                <a:sym typeface="Nourd Bold"/>
              </a:rPr>
              <a:t>Applied Research Project</a:t>
            </a:r>
          </a:p>
        </p:txBody>
      </p:sp>
      <p:sp>
        <p:nvSpPr>
          <p:cNvPr id="17" name="TextBox 10">
            <a:extLst>
              <a:ext uri="{FF2B5EF4-FFF2-40B4-BE49-F238E27FC236}">
                <a16:creationId xmlns:a16="http://schemas.microsoft.com/office/drawing/2014/main" id="{AE2BF3B6-12B8-B76A-4611-35E0A02CA9C1}"/>
              </a:ext>
            </a:extLst>
          </p:cNvPr>
          <p:cNvSpPr txBox="1"/>
          <p:nvPr/>
        </p:nvSpPr>
        <p:spPr>
          <a:xfrm>
            <a:off x="1187170" y="2500037"/>
            <a:ext cx="7869568" cy="1437573"/>
          </a:xfrm>
          <a:prstGeom prst="rect">
            <a:avLst/>
          </a:prstGeom>
        </p:spPr>
        <p:txBody>
          <a:bodyPr wrap="square" lIns="0" tIns="0" rIns="0" bIns="0" rtlCol="0" anchor="t">
            <a:spAutoFit/>
          </a:bodyPr>
          <a:lstStyle>
            <a:defPPr>
              <a:defRPr lang="en-US"/>
            </a:defPPr>
            <a:lvl1pPr algn="ctr">
              <a:lnSpc>
                <a:spcPts val="3799"/>
              </a:lnSpc>
              <a:defRPr sz="3166">
                <a:solidFill>
                  <a:srgbClr val="2C2C2C"/>
                </a:solidFill>
                <a:latin typeface="Nourd Semi-Bold"/>
                <a:ea typeface="Nourd Semi-Bold"/>
                <a:cs typeface="Nourd Semi-Bold"/>
              </a:defRPr>
            </a:lvl1pPr>
          </a:lstStyle>
          <a:p>
            <a:r>
              <a:rPr lang="en-US" sz="3000" dirty="0"/>
              <a:t>Leveraging User and Contextual Data for Accurate Click-Through Rate Prediction </a:t>
            </a:r>
          </a:p>
          <a:p>
            <a:r>
              <a:rPr lang="en-US" sz="3000" dirty="0"/>
              <a:t>in</a:t>
            </a:r>
            <a:endParaRPr lang="en-US" sz="3000" dirty="0">
              <a:sym typeface="Nourd Semi-Bold"/>
            </a:endParaRPr>
          </a:p>
        </p:txBody>
      </p:sp>
      <p:pic>
        <p:nvPicPr>
          <p:cNvPr id="20" name="image1.png" descr="A logo with blue text&#10;&#10;Description automatically generated">
            <a:extLst>
              <a:ext uri="{FF2B5EF4-FFF2-40B4-BE49-F238E27FC236}">
                <a16:creationId xmlns:a16="http://schemas.microsoft.com/office/drawing/2014/main" id="{774D777E-FFDF-38A7-5C6E-819D81C61C49}"/>
              </a:ext>
            </a:extLst>
          </p:cNvPr>
          <p:cNvPicPr/>
          <p:nvPr/>
        </p:nvPicPr>
        <p:blipFill>
          <a:blip r:embed="rId8"/>
          <a:srcRect/>
          <a:stretch>
            <a:fillRect/>
          </a:stretch>
        </p:blipFill>
        <p:spPr>
          <a:xfrm>
            <a:off x="688877" y="148839"/>
            <a:ext cx="1589741" cy="889385"/>
          </a:xfrm>
          <a:prstGeom prst="rect">
            <a:avLst/>
          </a:prstGeo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4786810"/>
            <a:ext cx="18288000" cy="5639164"/>
          </a:xfrm>
          <a:prstGeom prst="rect">
            <a:avLst/>
          </a:prstGeom>
          <a:solidFill>
            <a:srgbClr val="EDF0F2"/>
          </a:solidFill>
        </p:spPr>
        <p:txBody>
          <a:bodyPr/>
          <a:lstStyle/>
          <a:p>
            <a:endParaRPr lang="en-US"/>
          </a:p>
        </p:txBody>
      </p:sp>
      <p:sp>
        <p:nvSpPr>
          <p:cNvPr id="3" name="AutoShape 3"/>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4" name="AutoShape 4"/>
          <p:cNvSpPr/>
          <p:nvPr/>
        </p:nvSpPr>
        <p:spPr>
          <a:xfrm>
            <a:off x="0" y="4777285"/>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grpSp>
        <p:nvGrpSpPr>
          <p:cNvPr id="5" name="Group 5"/>
          <p:cNvGrpSpPr/>
          <p:nvPr/>
        </p:nvGrpSpPr>
        <p:grpSpPr>
          <a:xfrm>
            <a:off x="619276" y="-412802"/>
            <a:ext cx="14546436" cy="5346752"/>
            <a:chOff x="0" y="0"/>
            <a:chExt cx="19395248" cy="7129003"/>
          </a:xfrm>
        </p:grpSpPr>
        <p:sp>
          <p:nvSpPr>
            <p:cNvPr id="6" name="Freeform 6"/>
            <p:cNvSpPr/>
            <p:nvPr/>
          </p:nvSpPr>
          <p:spPr>
            <a:xfrm rot="2825414">
              <a:off x="1123037" y="963926"/>
              <a:ext cx="4898539" cy="5201151"/>
            </a:xfrm>
            <a:custGeom>
              <a:avLst/>
              <a:gdLst/>
              <a:ahLst/>
              <a:cxnLst/>
              <a:rect l="l" t="t" r="r" b="b"/>
              <a:pathLst>
                <a:path w="4898539" h="5201151">
                  <a:moveTo>
                    <a:pt x="0" y="0"/>
                  </a:moveTo>
                  <a:lnTo>
                    <a:pt x="4898539" y="0"/>
                  </a:lnTo>
                  <a:lnTo>
                    <a:pt x="4898539" y="5201151"/>
                  </a:lnTo>
                  <a:lnTo>
                    <a:pt x="0" y="52011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545899" y="2581952"/>
              <a:ext cx="18849349" cy="1727200"/>
            </a:xfrm>
            <a:prstGeom prst="rect">
              <a:avLst/>
            </a:prstGeom>
          </p:spPr>
          <p:txBody>
            <a:bodyPr lIns="0" tIns="0" rIns="0" bIns="0" rtlCol="0" anchor="t">
              <a:spAutoFit/>
            </a:bodyPr>
            <a:lstStyle/>
            <a:p>
              <a:pPr marL="0" lvl="0" indent="0" algn="l">
                <a:lnSpc>
                  <a:spcPts val="10200"/>
                </a:lnSpc>
                <a:spcBef>
                  <a:spcPct val="0"/>
                </a:spcBef>
              </a:pPr>
              <a:r>
                <a:rPr lang="en-US" sz="8500">
                  <a:solidFill>
                    <a:srgbClr val="2C2C2C"/>
                  </a:solidFill>
                  <a:latin typeface="Nourd Semi-Bold"/>
                  <a:ea typeface="Nourd Semi-Bold"/>
                  <a:cs typeface="Nourd Semi-Bold"/>
                  <a:sym typeface="Nourd Semi-Bold"/>
                </a:rPr>
                <a:t>Problem Statement</a:t>
              </a:r>
            </a:p>
          </p:txBody>
        </p:sp>
      </p:grpSp>
      <p:sp>
        <p:nvSpPr>
          <p:cNvPr id="8" name="TextBox 8"/>
          <p:cNvSpPr txBox="1"/>
          <p:nvPr/>
        </p:nvSpPr>
        <p:spPr>
          <a:xfrm>
            <a:off x="1028700" y="3392352"/>
            <a:ext cx="16230600" cy="718530"/>
          </a:xfrm>
          <a:prstGeom prst="rect">
            <a:avLst/>
          </a:prstGeom>
        </p:spPr>
        <p:txBody>
          <a:bodyPr lIns="0" tIns="0" rIns="0" bIns="0" rtlCol="0" anchor="t">
            <a:spAutoFit/>
          </a:bodyPr>
          <a:lstStyle/>
          <a:p>
            <a:pPr>
              <a:lnSpc>
                <a:spcPts val="2860"/>
              </a:lnSpc>
            </a:pPr>
            <a:r>
              <a:rPr lang="en-US" sz="2200" dirty="0">
                <a:solidFill>
                  <a:srgbClr val="2C2C2C"/>
                </a:solidFill>
                <a:latin typeface="Nourd"/>
              </a:rPr>
              <a:t>Accurate CTR prediction is crucial for optimizing ad placements, designing targeted campaigns, and maximizing ROI. Current methods face challenges in integrating user and contextual data effectively.</a:t>
            </a:r>
          </a:p>
        </p:txBody>
      </p:sp>
      <p:sp>
        <p:nvSpPr>
          <p:cNvPr id="10" name="Freeform 10"/>
          <p:cNvSpPr/>
          <p:nvPr/>
        </p:nvSpPr>
        <p:spPr>
          <a:xfrm>
            <a:off x="1028700" y="4991100"/>
            <a:ext cx="2946844" cy="552533"/>
          </a:xfrm>
          <a:custGeom>
            <a:avLst/>
            <a:gdLst/>
            <a:ahLst/>
            <a:cxnLst/>
            <a:rect l="l" t="t" r="r" b="b"/>
            <a:pathLst>
              <a:path w="2946844" h="552533">
                <a:moveTo>
                  <a:pt x="0" y="0"/>
                </a:moveTo>
                <a:lnTo>
                  <a:pt x="2946844" y="0"/>
                </a:lnTo>
                <a:lnTo>
                  <a:pt x="2946844" y="552533"/>
                </a:lnTo>
                <a:lnTo>
                  <a:pt x="0" y="5525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1167758" y="4991100"/>
            <a:ext cx="2763977" cy="448584"/>
          </a:xfrm>
          <a:prstGeom prst="rect">
            <a:avLst/>
          </a:prstGeom>
        </p:spPr>
        <p:txBody>
          <a:bodyPr lIns="0" tIns="0" rIns="0" bIns="0" rtlCol="0" anchor="t">
            <a:spAutoFit/>
          </a:bodyPr>
          <a:lstStyle/>
          <a:p>
            <a:pPr algn="ctr">
              <a:lnSpc>
                <a:spcPts val="3780"/>
              </a:lnSpc>
            </a:pPr>
            <a:r>
              <a:rPr lang="en-US" sz="2700" dirty="0">
                <a:solidFill>
                  <a:srgbClr val="2C2C2C"/>
                </a:solidFill>
                <a:latin typeface="Nourd Semi-Bold"/>
                <a:ea typeface="Nourd Semi-Bold"/>
                <a:cs typeface="Nourd Semi-Bold"/>
                <a:sym typeface="Nourd Semi-Bold"/>
              </a:rPr>
              <a:t>Aim of Study:</a:t>
            </a:r>
          </a:p>
        </p:txBody>
      </p:sp>
      <p:sp>
        <p:nvSpPr>
          <p:cNvPr id="12" name="TextBox 12"/>
          <p:cNvSpPr txBox="1"/>
          <p:nvPr/>
        </p:nvSpPr>
        <p:spPr>
          <a:xfrm>
            <a:off x="1028700" y="7114842"/>
            <a:ext cx="16230600" cy="1956048"/>
          </a:xfrm>
          <a:prstGeom prst="rect">
            <a:avLst/>
          </a:prstGeom>
        </p:spPr>
        <p:txBody>
          <a:bodyPr lIns="0" tIns="0" rIns="0" bIns="0" rtlCol="0" anchor="t">
            <a:spAutoFit/>
          </a:bodyPr>
          <a:lstStyle/>
          <a:p>
            <a:pPr marL="474983" marR="0" lvl="1" indent="-237491">
              <a:lnSpc>
                <a:spcPts val="3080"/>
              </a:lnSpc>
              <a:buFont typeface="Arial"/>
              <a:buChar char="•"/>
            </a:pPr>
            <a:r>
              <a:rPr lang="en-US" sz="2200" dirty="0">
                <a:solidFill>
                  <a:srgbClr val="2C2C2C"/>
                </a:solidFill>
                <a:latin typeface="Nourd"/>
              </a:rPr>
              <a:t>Identify key factors influencing CTR.</a:t>
            </a:r>
          </a:p>
          <a:p>
            <a:pPr marL="237492" marR="0" lvl="1">
              <a:lnSpc>
                <a:spcPts val="3080"/>
              </a:lnSpc>
            </a:pPr>
            <a:endParaRPr lang="en-US" sz="1800" dirty="0">
              <a:effectLst/>
              <a:latin typeface="Arial" panose="020B0604020202020204" pitchFamily="34" charset="0"/>
              <a:ea typeface="Arial" panose="020B0604020202020204" pitchFamily="34" charset="0"/>
            </a:endParaRPr>
          </a:p>
          <a:p>
            <a:pPr marL="474983" lvl="1" indent="-237491">
              <a:lnSpc>
                <a:spcPts val="3080"/>
              </a:lnSpc>
              <a:buFont typeface="Arial"/>
              <a:buChar char="•"/>
            </a:pPr>
            <a:r>
              <a:rPr lang="en-US" sz="2200" dirty="0">
                <a:solidFill>
                  <a:srgbClr val="2C2C2C"/>
                </a:solidFill>
                <a:latin typeface="Nourd"/>
              </a:rPr>
              <a:t>Evaluate both RF and SVM models.</a:t>
            </a:r>
          </a:p>
          <a:p>
            <a:pPr marL="237492" lvl="1">
              <a:lnSpc>
                <a:spcPts val="3080"/>
              </a:lnSpc>
            </a:pPr>
            <a:endParaRPr lang="en-US" sz="2200" dirty="0">
              <a:solidFill>
                <a:srgbClr val="2C2C2C"/>
              </a:solidFill>
              <a:latin typeface="Nourd"/>
            </a:endParaRPr>
          </a:p>
          <a:p>
            <a:pPr marL="474983" lvl="1" indent="-237491">
              <a:lnSpc>
                <a:spcPts val="3080"/>
              </a:lnSpc>
              <a:buFont typeface="Arial"/>
              <a:buChar char="•"/>
            </a:pPr>
            <a:r>
              <a:rPr lang="en-US" sz="2200" dirty="0">
                <a:solidFill>
                  <a:srgbClr val="2C2C2C"/>
                </a:solidFill>
                <a:latin typeface="Nourd"/>
              </a:rPr>
              <a:t>Provide actionable recommendations for ad targeting strategies and future model improvements.</a:t>
            </a:r>
          </a:p>
        </p:txBody>
      </p:sp>
      <p:pic>
        <p:nvPicPr>
          <p:cNvPr id="14" name="image1.png" descr="A logo with blue text&#10;&#10;Description automatically generated">
            <a:extLst>
              <a:ext uri="{FF2B5EF4-FFF2-40B4-BE49-F238E27FC236}">
                <a16:creationId xmlns:a16="http://schemas.microsoft.com/office/drawing/2014/main" id="{A899E65A-583E-FE64-3E6D-9C6DA84A77CF}"/>
              </a:ext>
            </a:extLst>
          </p:cNvPr>
          <p:cNvPicPr/>
          <p:nvPr/>
        </p:nvPicPr>
        <p:blipFill>
          <a:blip r:embed="rId6"/>
          <a:srcRect/>
          <a:stretch>
            <a:fillRect/>
          </a:stretch>
        </p:blipFill>
        <p:spPr>
          <a:xfrm>
            <a:off x="15851588" y="103538"/>
            <a:ext cx="1589741" cy="889385"/>
          </a:xfrm>
          <a:prstGeom prst="rect">
            <a:avLst/>
          </a:prstGeom>
          <a:ln/>
        </p:spPr>
      </p:pic>
      <p:sp>
        <p:nvSpPr>
          <p:cNvPr id="15" name="TextBox 8">
            <a:extLst>
              <a:ext uri="{FF2B5EF4-FFF2-40B4-BE49-F238E27FC236}">
                <a16:creationId xmlns:a16="http://schemas.microsoft.com/office/drawing/2014/main" id="{92590CF9-1819-117D-1FD5-7E963858C0C1}"/>
              </a:ext>
            </a:extLst>
          </p:cNvPr>
          <p:cNvSpPr txBox="1"/>
          <p:nvPr/>
        </p:nvSpPr>
        <p:spPr>
          <a:xfrm>
            <a:off x="1471204" y="5591561"/>
            <a:ext cx="15748642" cy="718530"/>
          </a:xfrm>
          <a:prstGeom prst="rect">
            <a:avLst/>
          </a:prstGeom>
        </p:spPr>
        <p:txBody>
          <a:bodyPr wrap="square" lIns="0" tIns="0" rIns="0" bIns="0" rtlCol="0" anchor="t">
            <a:spAutoFit/>
          </a:bodyPr>
          <a:lstStyle/>
          <a:p>
            <a:pPr>
              <a:lnSpc>
                <a:spcPts val="2860"/>
              </a:lnSpc>
            </a:pPr>
            <a:r>
              <a:rPr lang="en-US" sz="2200" dirty="0">
                <a:solidFill>
                  <a:srgbClr val="2C2C2C"/>
                </a:solidFill>
                <a:latin typeface="Nourd"/>
              </a:rPr>
              <a:t>To Develop and compare Random Forest (RF) and Support Vector Machine (SVM) models for CTR prediction using dataset with user and contextual data. </a:t>
            </a:r>
          </a:p>
        </p:txBody>
      </p:sp>
      <p:sp>
        <p:nvSpPr>
          <p:cNvPr id="17" name="Freeform 10">
            <a:extLst>
              <a:ext uri="{FF2B5EF4-FFF2-40B4-BE49-F238E27FC236}">
                <a16:creationId xmlns:a16="http://schemas.microsoft.com/office/drawing/2014/main" id="{B84DB73D-FAC8-916D-76BF-6FF26CD61C93}"/>
              </a:ext>
            </a:extLst>
          </p:cNvPr>
          <p:cNvSpPr/>
          <p:nvPr/>
        </p:nvSpPr>
        <p:spPr>
          <a:xfrm>
            <a:off x="1028700" y="6515100"/>
            <a:ext cx="4305300" cy="552533"/>
          </a:xfrm>
          <a:custGeom>
            <a:avLst/>
            <a:gdLst/>
            <a:ahLst/>
            <a:cxnLst/>
            <a:rect l="l" t="t" r="r" b="b"/>
            <a:pathLst>
              <a:path w="2946844" h="552533">
                <a:moveTo>
                  <a:pt x="0" y="0"/>
                </a:moveTo>
                <a:lnTo>
                  <a:pt x="2946844" y="0"/>
                </a:lnTo>
                <a:lnTo>
                  <a:pt x="2946844" y="552533"/>
                </a:lnTo>
                <a:lnTo>
                  <a:pt x="0" y="5525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TextBox 11">
            <a:extLst>
              <a:ext uri="{FF2B5EF4-FFF2-40B4-BE49-F238E27FC236}">
                <a16:creationId xmlns:a16="http://schemas.microsoft.com/office/drawing/2014/main" id="{61AD2150-78E0-6DAC-8613-8ED13B132136}"/>
              </a:ext>
            </a:extLst>
          </p:cNvPr>
          <p:cNvSpPr txBox="1"/>
          <p:nvPr/>
        </p:nvSpPr>
        <p:spPr>
          <a:xfrm>
            <a:off x="1028700" y="6543064"/>
            <a:ext cx="4152900" cy="448584"/>
          </a:xfrm>
          <a:prstGeom prst="rect">
            <a:avLst/>
          </a:prstGeom>
        </p:spPr>
        <p:txBody>
          <a:bodyPr wrap="square" lIns="0" tIns="0" rIns="0" bIns="0" rtlCol="0" anchor="t">
            <a:spAutoFit/>
          </a:bodyPr>
          <a:lstStyle/>
          <a:p>
            <a:pPr algn="ctr">
              <a:lnSpc>
                <a:spcPts val="3780"/>
              </a:lnSpc>
            </a:pPr>
            <a:r>
              <a:rPr lang="en-US" sz="2700" dirty="0">
                <a:solidFill>
                  <a:srgbClr val="2C2C2C"/>
                </a:solidFill>
                <a:latin typeface="Nourd Semi-Bold"/>
                <a:ea typeface="Nourd Semi-Bold"/>
                <a:cs typeface="Nourd Semi-Bold"/>
                <a:sym typeface="Nourd Semi-Bold"/>
              </a:rPr>
              <a:t>Research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888575">
            <a:off x="15178215" y="1544235"/>
            <a:ext cx="1913500" cy="1854355"/>
          </a:xfrm>
          <a:custGeom>
            <a:avLst/>
            <a:gdLst/>
            <a:ahLst/>
            <a:cxnLst/>
            <a:rect l="l" t="t" r="r" b="b"/>
            <a:pathLst>
              <a:path w="1913500" h="1854355">
                <a:moveTo>
                  <a:pt x="0" y="0"/>
                </a:moveTo>
                <a:lnTo>
                  <a:pt x="1913500" y="0"/>
                </a:lnTo>
                <a:lnTo>
                  <a:pt x="1913500" y="1854356"/>
                </a:lnTo>
                <a:lnTo>
                  <a:pt x="0" y="18543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1181100"/>
            <a:ext cx="16230600" cy="1308050"/>
          </a:xfrm>
          <a:prstGeom prst="rect">
            <a:avLst/>
          </a:prstGeom>
        </p:spPr>
        <p:txBody>
          <a:bodyPr lIns="0" tIns="0" rIns="0" bIns="0" rtlCol="0" anchor="t">
            <a:spAutoFit/>
          </a:bodyPr>
          <a:lstStyle/>
          <a:p>
            <a:pPr marL="0" lvl="0" indent="0" algn="l">
              <a:lnSpc>
                <a:spcPts val="10200"/>
              </a:lnSpc>
              <a:spcBef>
                <a:spcPct val="0"/>
              </a:spcBef>
            </a:pPr>
            <a:r>
              <a:rPr lang="en-US" sz="8500" dirty="0">
                <a:solidFill>
                  <a:srgbClr val="2C2C2C"/>
                </a:solidFill>
                <a:latin typeface="Nourd Semi-Bold"/>
              </a:rPr>
              <a:t>Literature Review Highlights</a:t>
            </a:r>
            <a:endParaRPr lang="en-US" sz="8500" dirty="0">
              <a:solidFill>
                <a:srgbClr val="2C2C2C"/>
              </a:solidFill>
              <a:latin typeface="Nourd Semi-Bold"/>
              <a:sym typeface="Nourd Semi-Bold"/>
            </a:endParaRPr>
          </a:p>
        </p:txBody>
      </p:sp>
      <p:sp>
        <p:nvSpPr>
          <p:cNvPr id="4" name="TextBox 4"/>
          <p:cNvSpPr txBox="1"/>
          <p:nvPr/>
        </p:nvSpPr>
        <p:spPr>
          <a:xfrm>
            <a:off x="1028700" y="3446681"/>
            <a:ext cx="14744700" cy="706219"/>
          </a:xfrm>
          <a:prstGeom prst="rect">
            <a:avLst/>
          </a:prstGeom>
        </p:spPr>
        <p:txBody>
          <a:bodyPr wrap="square" lIns="0" tIns="0" rIns="0" bIns="0" rtlCol="0" anchor="t">
            <a:spAutoFit/>
          </a:bodyPr>
          <a:lstStyle/>
          <a:p>
            <a:pPr>
              <a:lnSpc>
                <a:spcPts val="2860"/>
              </a:lnSpc>
            </a:pPr>
            <a:r>
              <a:rPr lang="en-US" dirty="0">
                <a:solidFill>
                  <a:srgbClr val="2C2C2C"/>
                </a:solidFill>
                <a:latin typeface="Nourd"/>
              </a:rPr>
              <a:t>Click-through rate (CTR) serves as a critical metric for evaluating the effectiveness of advertisements. A high CTR signifies strong engagement and campaign success. Platforms like Google Ads and Facebook utilize CTR as a determinant for ad placements and pricing.</a:t>
            </a:r>
          </a:p>
        </p:txBody>
      </p:sp>
      <p:sp>
        <p:nvSpPr>
          <p:cNvPr id="5" name="TextBox 5"/>
          <p:cNvSpPr txBox="1"/>
          <p:nvPr/>
        </p:nvSpPr>
        <p:spPr>
          <a:xfrm>
            <a:off x="1028700" y="4827758"/>
            <a:ext cx="14744700" cy="2193806"/>
          </a:xfrm>
          <a:prstGeom prst="rect">
            <a:avLst/>
          </a:prstGeom>
        </p:spPr>
        <p:txBody>
          <a:bodyPr wrap="square" lIns="0" tIns="0" rIns="0" bIns="0" rtlCol="0" anchor="t">
            <a:spAutoFit/>
          </a:bodyPr>
          <a:lstStyle>
            <a:defPPr>
              <a:defRPr lang="en-US"/>
            </a:defPPr>
            <a:lvl1pPr>
              <a:lnSpc>
                <a:spcPts val="2860"/>
              </a:lnSpc>
              <a:defRPr>
                <a:solidFill>
                  <a:srgbClr val="2C2C2C"/>
                </a:solidFill>
                <a:latin typeface="Nourd"/>
              </a:defRPr>
            </a:lvl1pPr>
          </a:lstStyle>
          <a:p>
            <a:pPr marL="285750" indent="-285750">
              <a:buFont typeface="Arial" panose="020B0604020202020204" pitchFamily="34" charset="0"/>
              <a:buChar char="•"/>
            </a:pPr>
            <a:r>
              <a:rPr lang="en-US" b="1" dirty="0"/>
              <a:t>Early Methods: </a:t>
            </a:r>
            <a:r>
              <a:rPr lang="en-US" dirty="0"/>
              <a:t>Logistic regression (LR) and decision trees offered interpretable but limited solutions. These methods struggled with non-linear relationships and large datasets.</a:t>
            </a:r>
          </a:p>
          <a:p>
            <a:pPr marL="285750" indent="-285750">
              <a:buFont typeface="Arial" panose="020B0604020202020204" pitchFamily="34" charset="0"/>
              <a:buChar char="•"/>
            </a:pPr>
            <a:r>
              <a:rPr lang="en-US" b="1" dirty="0"/>
              <a:t>Ensemble Methods: </a:t>
            </a:r>
            <a:r>
              <a:rPr lang="en-US" dirty="0"/>
              <a:t>Models like Gradient Boosted Decision Trees (GBDT) improved predictive power by aggregating weak learners, effectively addressing data sparsity.</a:t>
            </a:r>
          </a:p>
          <a:p>
            <a:pPr marL="285750" indent="-285750">
              <a:buFont typeface="Arial" panose="020B0604020202020204" pitchFamily="34" charset="0"/>
              <a:buChar char="•"/>
            </a:pPr>
            <a:r>
              <a:rPr lang="en-US" b="1" dirty="0"/>
              <a:t>Deep Learning: </a:t>
            </a:r>
            <a:r>
              <a:rPr lang="en-US" dirty="0"/>
              <a:t>Advanced models such as DeepFM and neural networks enabled automatic feature learning and captured complex interactions, enhancing accuracy.</a:t>
            </a:r>
          </a:p>
        </p:txBody>
      </p:sp>
      <p:sp>
        <p:nvSpPr>
          <p:cNvPr id="6" name="AutoShape 6"/>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7" name="AutoShape 7"/>
          <p:cNvSpPr/>
          <p:nvPr/>
        </p:nvSpPr>
        <p:spPr>
          <a:xfrm>
            <a:off x="0" y="9248775"/>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8" name="Freeform 8"/>
          <p:cNvSpPr/>
          <p:nvPr/>
        </p:nvSpPr>
        <p:spPr>
          <a:xfrm rot="8394939">
            <a:off x="4139259" y="2552457"/>
            <a:ext cx="382832" cy="774109"/>
          </a:xfrm>
          <a:custGeom>
            <a:avLst/>
            <a:gdLst/>
            <a:ahLst/>
            <a:cxnLst/>
            <a:rect l="l" t="t" r="r" b="b"/>
            <a:pathLst>
              <a:path w="382832" h="774109">
                <a:moveTo>
                  <a:pt x="0" y="0"/>
                </a:moveTo>
                <a:lnTo>
                  <a:pt x="382832" y="0"/>
                </a:lnTo>
                <a:lnTo>
                  <a:pt x="382832" y="774109"/>
                </a:lnTo>
                <a:lnTo>
                  <a:pt x="0" y="774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rot="8394939">
            <a:off x="7813952" y="6926968"/>
            <a:ext cx="382832" cy="774109"/>
          </a:xfrm>
          <a:custGeom>
            <a:avLst/>
            <a:gdLst/>
            <a:ahLst/>
            <a:cxnLst/>
            <a:rect l="l" t="t" r="r" b="b"/>
            <a:pathLst>
              <a:path w="382832" h="774109">
                <a:moveTo>
                  <a:pt x="0" y="0"/>
                </a:moveTo>
                <a:lnTo>
                  <a:pt x="382832" y="0"/>
                </a:lnTo>
                <a:lnTo>
                  <a:pt x="382832" y="774109"/>
                </a:lnTo>
                <a:lnTo>
                  <a:pt x="0" y="774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1028700" y="2876276"/>
            <a:ext cx="3301975" cy="448584"/>
          </a:xfrm>
          <a:prstGeom prst="rect">
            <a:avLst/>
          </a:prstGeom>
        </p:spPr>
        <p:txBody>
          <a:bodyPr wrap="square" lIns="0" tIns="0" rIns="0" bIns="0" rtlCol="0" anchor="t">
            <a:spAutoFit/>
          </a:bodyPr>
          <a:lstStyle/>
          <a:p>
            <a:pPr>
              <a:lnSpc>
                <a:spcPts val="3780"/>
              </a:lnSpc>
            </a:pPr>
            <a:r>
              <a:rPr lang="en-US" sz="2700" dirty="0">
                <a:solidFill>
                  <a:srgbClr val="2C2C2C"/>
                </a:solidFill>
                <a:latin typeface="Nourd Semi-Bold"/>
              </a:rPr>
              <a:t>CTR in Advertising:</a:t>
            </a:r>
            <a:endParaRPr lang="en-US" sz="2700" dirty="0">
              <a:solidFill>
                <a:srgbClr val="2C2C2C"/>
              </a:solidFill>
              <a:latin typeface="Nourd Semi-Bold"/>
              <a:ea typeface="Nourd Semi-Bold"/>
              <a:cs typeface="Nourd Semi-Bold"/>
              <a:sym typeface="Nourd Semi-Bold"/>
            </a:endParaRPr>
          </a:p>
        </p:txBody>
      </p:sp>
      <p:sp>
        <p:nvSpPr>
          <p:cNvPr id="12" name="TextBox 12"/>
          <p:cNvSpPr txBox="1"/>
          <p:nvPr/>
        </p:nvSpPr>
        <p:spPr>
          <a:xfrm>
            <a:off x="1048970" y="7200900"/>
            <a:ext cx="7028230" cy="448584"/>
          </a:xfrm>
          <a:prstGeom prst="rect">
            <a:avLst/>
          </a:prstGeom>
        </p:spPr>
        <p:txBody>
          <a:bodyPr wrap="square" lIns="0" tIns="0" rIns="0" bIns="0" rtlCol="0" anchor="t">
            <a:spAutoFit/>
          </a:bodyPr>
          <a:lstStyle/>
          <a:p>
            <a:pPr>
              <a:lnSpc>
                <a:spcPts val="3780"/>
              </a:lnSpc>
            </a:pPr>
            <a:r>
              <a:rPr lang="en-US" sz="2700" dirty="0">
                <a:solidFill>
                  <a:srgbClr val="2C2C2C"/>
                </a:solidFill>
                <a:latin typeface="Nourd Semi-Bold"/>
                <a:ea typeface="Nourd Semi-Bold"/>
                <a:cs typeface="Nourd Semi-Bold"/>
                <a:sym typeface="Nourd Semi-Bold"/>
              </a:rPr>
              <a:t>Challenges and Gaps in CTR Prediction:</a:t>
            </a:r>
          </a:p>
        </p:txBody>
      </p:sp>
      <p:pic>
        <p:nvPicPr>
          <p:cNvPr id="13" name="image1.png" descr="A logo with blue text&#10;&#10;Description automatically generated">
            <a:extLst>
              <a:ext uri="{FF2B5EF4-FFF2-40B4-BE49-F238E27FC236}">
                <a16:creationId xmlns:a16="http://schemas.microsoft.com/office/drawing/2014/main" id="{8049AF1F-94EA-134A-6593-D04E2A3C2C49}"/>
              </a:ext>
            </a:extLst>
          </p:cNvPr>
          <p:cNvPicPr/>
          <p:nvPr/>
        </p:nvPicPr>
        <p:blipFill>
          <a:blip r:embed="rId6"/>
          <a:srcRect/>
          <a:stretch>
            <a:fillRect/>
          </a:stretch>
        </p:blipFill>
        <p:spPr>
          <a:xfrm>
            <a:off x="15851588" y="103538"/>
            <a:ext cx="1589741" cy="889385"/>
          </a:xfrm>
          <a:prstGeom prst="rect">
            <a:avLst/>
          </a:prstGeom>
          <a:ln/>
        </p:spPr>
      </p:pic>
      <p:sp>
        <p:nvSpPr>
          <p:cNvPr id="14" name="Freeform 8">
            <a:extLst>
              <a:ext uri="{FF2B5EF4-FFF2-40B4-BE49-F238E27FC236}">
                <a16:creationId xmlns:a16="http://schemas.microsoft.com/office/drawing/2014/main" id="{C57426BD-DD33-FADA-2FB1-063DA4924B59}"/>
              </a:ext>
            </a:extLst>
          </p:cNvPr>
          <p:cNvSpPr/>
          <p:nvPr/>
        </p:nvSpPr>
        <p:spPr>
          <a:xfrm rot="8394939">
            <a:off x="5966102" y="4184655"/>
            <a:ext cx="382832" cy="774109"/>
          </a:xfrm>
          <a:custGeom>
            <a:avLst/>
            <a:gdLst/>
            <a:ahLst/>
            <a:cxnLst/>
            <a:rect l="l" t="t" r="r" b="b"/>
            <a:pathLst>
              <a:path w="382832" h="774109">
                <a:moveTo>
                  <a:pt x="0" y="0"/>
                </a:moveTo>
                <a:lnTo>
                  <a:pt x="382832" y="0"/>
                </a:lnTo>
                <a:lnTo>
                  <a:pt x="382832" y="774109"/>
                </a:lnTo>
                <a:lnTo>
                  <a:pt x="0" y="774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TextBox 4">
            <a:extLst>
              <a:ext uri="{FF2B5EF4-FFF2-40B4-BE49-F238E27FC236}">
                <a16:creationId xmlns:a16="http://schemas.microsoft.com/office/drawing/2014/main" id="{CB4DCF93-4689-6F5E-9C51-AED23E01D5E2}"/>
              </a:ext>
            </a:extLst>
          </p:cNvPr>
          <p:cNvSpPr txBox="1"/>
          <p:nvPr/>
        </p:nvSpPr>
        <p:spPr>
          <a:xfrm>
            <a:off x="1028700" y="7784064"/>
            <a:ext cx="14289677" cy="1450012"/>
          </a:xfrm>
          <a:prstGeom prst="rect">
            <a:avLst/>
          </a:prstGeom>
        </p:spPr>
        <p:txBody>
          <a:bodyPr wrap="square" lIns="0" tIns="0" rIns="0" bIns="0" rtlCol="0" anchor="t">
            <a:spAutoFit/>
          </a:bodyPr>
          <a:lstStyle>
            <a:defPPr>
              <a:defRPr lang="en-US"/>
            </a:defPPr>
            <a:lvl1pPr>
              <a:lnSpc>
                <a:spcPts val="2860"/>
              </a:lnSpc>
              <a:defRPr>
                <a:solidFill>
                  <a:srgbClr val="2C2C2C"/>
                </a:solidFill>
                <a:latin typeface="Nourd"/>
              </a:defRPr>
            </a:lvl1pPr>
          </a:lstStyle>
          <a:p>
            <a:pPr marL="285750" indent="-285750">
              <a:buFont typeface="Arial" panose="020B0604020202020204" pitchFamily="34" charset="0"/>
              <a:buChar char="•"/>
            </a:pPr>
            <a:r>
              <a:rPr lang="en-US" dirty="0"/>
              <a:t>Balancing recall and precision to optimize user targeting without increasing irrelevant ad exposure is a huge challenge.</a:t>
            </a:r>
          </a:p>
          <a:p>
            <a:pPr marL="285750" indent="-285750">
              <a:buFont typeface="Arial" panose="020B0604020202020204" pitchFamily="34" charset="0"/>
              <a:buChar char="•"/>
            </a:pPr>
            <a:r>
              <a:rPr lang="en-US" dirty="0"/>
              <a:t>Integrating real-time behavioral data remains a challenge as it improves the adaptability of predictive models.</a:t>
            </a:r>
          </a:p>
          <a:p>
            <a:pPr marL="285750" indent="-285750">
              <a:buFont typeface="Arial" panose="020B0604020202020204" pitchFamily="34" charset="0"/>
              <a:buChar char="•"/>
            </a:pPr>
            <a:r>
              <a:rPr lang="en-US" dirty="0"/>
              <a:t>Limited research on combining user behavior and contextual data dynamically in the field.</a:t>
            </a:r>
          </a:p>
          <a:p>
            <a:pPr marL="285750" indent="-285750">
              <a:buFont typeface="Arial" panose="020B0604020202020204" pitchFamily="34" charset="0"/>
              <a:buChar char="•"/>
            </a:pPr>
            <a:r>
              <a:rPr lang="en-US" dirty="0"/>
              <a:t>The lack for scalable models that generalize across multiple platforms and audience segments.</a:t>
            </a:r>
          </a:p>
        </p:txBody>
      </p:sp>
      <p:sp>
        <p:nvSpPr>
          <p:cNvPr id="18" name="TextBox 11">
            <a:extLst>
              <a:ext uri="{FF2B5EF4-FFF2-40B4-BE49-F238E27FC236}">
                <a16:creationId xmlns:a16="http://schemas.microsoft.com/office/drawing/2014/main" id="{CCD848B1-C12C-6AAE-CA45-70AE27EC940E}"/>
              </a:ext>
            </a:extLst>
          </p:cNvPr>
          <p:cNvSpPr txBox="1"/>
          <p:nvPr/>
        </p:nvSpPr>
        <p:spPr>
          <a:xfrm>
            <a:off x="1028700" y="4379174"/>
            <a:ext cx="5295900" cy="448584"/>
          </a:xfrm>
          <a:prstGeom prst="rect">
            <a:avLst/>
          </a:prstGeom>
        </p:spPr>
        <p:txBody>
          <a:bodyPr wrap="square" lIns="0" tIns="0" rIns="0" bIns="0" rtlCol="0" anchor="t">
            <a:spAutoFit/>
          </a:bodyPr>
          <a:lstStyle>
            <a:defPPr>
              <a:defRPr lang="en-US"/>
            </a:defPPr>
            <a:lvl1pPr>
              <a:lnSpc>
                <a:spcPts val="3780"/>
              </a:lnSpc>
              <a:defRPr sz="2700">
                <a:solidFill>
                  <a:srgbClr val="2C2C2C"/>
                </a:solidFill>
                <a:latin typeface="Nourd Semi-Bold"/>
              </a:defRPr>
            </a:lvl1pPr>
          </a:lstStyle>
          <a:p>
            <a:r>
              <a:rPr lang="en-US" dirty="0"/>
              <a:t>Evolution of CTR Techniques:</a:t>
            </a:r>
            <a:endParaRPr lang="en-US" dirty="0">
              <a:sym typeface="Nourd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824170">
            <a:off x="7112659" y="-86848"/>
            <a:ext cx="5222395" cy="5467891"/>
          </a:xfrm>
          <a:custGeom>
            <a:avLst/>
            <a:gdLst/>
            <a:ahLst/>
            <a:cxnLst/>
            <a:rect l="l" t="t" r="r" b="b"/>
            <a:pathLst>
              <a:path w="3681253" h="3834639">
                <a:moveTo>
                  <a:pt x="0" y="0"/>
                </a:moveTo>
                <a:lnTo>
                  <a:pt x="3681253" y="0"/>
                </a:lnTo>
                <a:lnTo>
                  <a:pt x="3681253" y="3834639"/>
                </a:lnTo>
                <a:lnTo>
                  <a:pt x="0" y="38346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4" name="TextBox 4"/>
          <p:cNvSpPr txBox="1"/>
          <p:nvPr/>
        </p:nvSpPr>
        <p:spPr>
          <a:xfrm>
            <a:off x="884831" y="1181100"/>
            <a:ext cx="13135969" cy="1295400"/>
          </a:xfrm>
          <a:prstGeom prst="rect">
            <a:avLst/>
          </a:prstGeom>
        </p:spPr>
        <p:txBody>
          <a:bodyPr lIns="0" tIns="0" rIns="0" bIns="0" rtlCol="0" anchor="t">
            <a:spAutoFit/>
          </a:bodyPr>
          <a:lstStyle/>
          <a:p>
            <a:pPr marL="0" lvl="0" indent="0" algn="l">
              <a:lnSpc>
                <a:spcPts val="10200"/>
              </a:lnSpc>
              <a:spcBef>
                <a:spcPct val="0"/>
              </a:spcBef>
            </a:pPr>
            <a:r>
              <a:rPr lang="en-US" sz="8500" dirty="0">
                <a:solidFill>
                  <a:srgbClr val="2C2C2C"/>
                </a:solidFill>
                <a:latin typeface="Nourd Semi-Bold"/>
                <a:ea typeface="Nourd Semi-Bold"/>
                <a:cs typeface="Nourd Semi-Bold"/>
                <a:sym typeface="Nourd Semi-Bold"/>
              </a:rPr>
              <a:t>Research Methodology</a:t>
            </a:r>
          </a:p>
        </p:txBody>
      </p:sp>
      <p:sp>
        <p:nvSpPr>
          <p:cNvPr id="6" name="Freeform 6"/>
          <p:cNvSpPr/>
          <p:nvPr/>
        </p:nvSpPr>
        <p:spPr>
          <a:xfrm>
            <a:off x="844693" y="3169902"/>
            <a:ext cx="2468000" cy="601998"/>
          </a:xfrm>
          <a:custGeom>
            <a:avLst/>
            <a:gdLst/>
            <a:ahLst/>
            <a:cxnLst/>
            <a:rect l="l" t="t" r="r" b="b"/>
            <a:pathLst>
              <a:path w="3210657" h="601998">
                <a:moveTo>
                  <a:pt x="0" y="0"/>
                </a:moveTo>
                <a:lnTo>
                  <a:pt x="3210657" y="0"/>
                </a:lnTo>
                <a:lnTo>
                  <a:pt x="3210657" y="601998"/>
                </a:lnTo>
                <a:lnTo>
                  <a:pt x="0" y="6019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028700" y="3234110"/>
            <a:ext cx="6380503" cy="438785"/>
          </a:xfrm>
          <a:prstGeom prst="rect">
            <a:avLst/>
          </a:prstGeom>
        </p:spPr>
        <p:txBody>
          <a:bodyPr lIns="0" tIns="0" rIns="0" bIns="0" rtlCol="0" anchor="t">
            <a:spAutoFit/>
          </a:bodyPr>
          <a:lstStyle/>
          <a:p>
            <a:pPr algn="l">
              <a:lnSpc>
                <a:spcPts val="3640"/>
              </a:lnSpc>
            </a:pPr>
            <a:r>
              <a:rPr lang="en-US" sz="2600" dirty="0">
                <a:solidFill>
                  <a:srgbClr val="2C2C2C"/>
                </a:solidFill>
                <a:latin typeface="Nourd Semi-Bold"/>
                <a:ea typeface="Nourd Semi-Bold"/>
                <a:cs typeface="Nourd Semi-Bold"/>
                <a:sym typeface="Nourd Semi-Bold"/>
              </a:rPr>
              <a:t>Data Source:</a:t>
            </a:r>
          </a:p>
        </p:txBody>
      </p:sp>
      <p:sp>
        <p:nvSpPr>
          <p:cNvPr id="8" name="Freeform 8"/>
          <p:cNvSpPr/>
          <p:nvPr/>
        </p:nvSpPr>
        <p:spPr>
          <a:xfrm>
            <a:off x="811418" y="4698638"/>
            <a:ext cx="2652007" cy="497251"/>
          </a:xfrm>
          <a:custGeom>
            <a:avLst/>
            <a:gdLst/>
            <a:ahLst/>
            <a:cxnLst/>
            <a:rect l="l" t="t" r="r" b="b"/>
            <a:pathLst>
              <a:path w="2652007" h="497251">
                <a:moveTo>
                  <a:pt x="0" y="0"/>
                </a:moveTo>
                <a:lnTo>
                  <a:pt x="2652008" y="0"/>
                </a:lnTo>
                <a:lnTo>
                  <a:pt x="2652008" y="497251"/>
                </a:lnTo>
                <a:lnTo>
                  <a:pt x="0" y="4972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926147" y="4683820"/>
            <a:ext cx="2468000" cy="438785"/>
          </a:xfrm>
          <a:prstGeom prst="rect">
            <a:avLst/>
          </a:prstGeom>
        </p:spPr>
        <p:txBody>
          <a:bodyPr lIns="0" tIns="0" rIns="0" bIns="0" rtlCol="0" anchor="t">
            <a:spAutoFit/>
          </a:bodyPr>
          <a:lstStyle/>
          <a:p>
            <a:pPr algn="l">
              <a:lnSpc>
                <a:spcPts val="3640"/>
              </a:lnSpc>
            </a:pPr>
            <a:r>
              <a:rPr lang="en-US" sz="2600" dirty="0">
                <a:solidFill>
                  <a:srgbClr val="2C2C2C"/>
                </a:solidFill>
                <a:latin typeface="Nourd Semi-Bold"/>
                <a:ea typeface="Nourd Semi-Bold"/>
                <a:cs typeface="Nourd Semi-Bold"/>
                <a:sym typeface="Nourd Semi-Bold"/>
              </a:rPr>
              <a:t>Preprocessing:</a:t>
            </a:r>
          </a:p>
        </p:txBody>
      </p:sp>
      <p:sp>
        <p:nvSpPr>
          <p:cNvPr id="10" name="Freeform 10"/>
          <p:cNvSpPr/>
          <p:nvPr/>
        </p:nvSpPr>
        <p:spPr>
          <a:xfrm>
            <a:off x="856347" y="6962415"/>
            <a:ext cx="3543300" cy="471846"/>
          </a:xfrm>
          <a:custGeom>
            <a:avLst/>
            <a:gdLst/>
            <a:ahLst/>
            <a:cxnLst/>
            <a:rect l="l" t="t" r="r" b="b"/>
            <a:pathLst>
              <a:path w="2516515" h="471846">
                <a:moveTo>
                  <a:pt x="0" y="0"/>
                </a:moveTo>
                <a:lnTo>
                  <a:pt x="2516515" y="0"/>
                </a:lnTo>
                <a:lnTo>
                  <a:pt x="2516515" y="471847"/>
                </a:lnTo>
                <a:lnTo>
                  <a:pt x="0" y="4718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1028700" y="6982574"/>
            <a:ext cx="3543300" cy="431528"/>
          </a:xfrm>
          <a:prstGeom prst="rect">
            <a:avLst/>
          </a:prstGeom>
        </p:spPr>
        <p:txBody>
          <a:bodyPr wrap="square" lIns="0" tIns="0" rIns="0" bIns="0" rtlCol="0" anchor="t">
            <a:spAutoFit/>
          </a:bodyPr>
          <a:lstStyle>
            <a:defPPr>
              <a:defRPr lang="en-US"/>
            </a:defPPr>
            <a:lvl1pPr>
              <a:lnSpc>
                <a:spcPts val="3640"/>
              </a:lnSpc>
              <a:defRPr sz="2600">
                <a:solidFill>
                  <a:srgbClr val="2C2C2C"/>
                </a:solidFill>
                <a:latin typeface="Nourd Semi-Bold"/>
                <a:ea typeface="Nourd Semi-Bold"/>
                <a:cs typeface="Nourd Semi-Bold"/>
              </a:defRPr>
            </a:lvl1pPr>
          </a:lstStyle>
          <a:p>
            <a:r>
              <a:rPr lang="en-US" dirty="0"/>
              <a:t>Models Developed:</a:t>
            </a:r>
            <a:endParaRPr lang="en-US" dirty="0">
              <a:sym typeface="Nourd Semi-Bold"/>
            </a:endParaRPr>
          </a:p>
        </p:txBody>
      </p:sp>
      <p:sp>
        <p:nvSpPr>
          <p:cNvPr id="12" name="TextBox 12"/>
          <p:cNvSpPr txBox="1"/>
          <p:nvPr/>
        </p:nvSpPr>
        <p:spPr>
          <a:xfrm>
            <a:off x="1028700" y="3837305"/>
            <a:ext cx="17106900" cy="757259"/>
          </a:xfrm>
          <a:prstGeom prst="rect">
            <a:avLst/>
          </a:prstGeom>
        </p:spPr>
        <p:txBody>
          <a:bodyPr wrap="square" lIns="0" tIns="0" rIns="0" bIns="0" rtlCol="0" anchor="t">
            <a:spAutoFit/>
          </a:bodyPr>
          <a:lstStyle/>
          <a:p>
            <a:pPr marL="580389" lvl="1" indent="-342900">
              <a:lnSpc>
                <a:spcPts val="3079"/>
              </a:lnSpc>
              <a:buFont typeface="Arial" panose="020B0604020202020204" pitchFamily="34" charset="0"/>
              <a:buChar char="•"/>
            </a:pPr>
            <a:r>
              <a:rPr lang="en-US" sz="2000" dirty="0">
                <a:solidFill>
                  <a:srgbClr val="2C2C2C"/>
                </a:solidFill>
                <a:latin typeface="Nourd"/>
              </a:rPr>
              <a:t>Kaggle dataset covering demographics (e.g., age, gender), user behavior (e.g., daily site time), and contextual details (e.g., ad topic) is used</a:t>
            </a:r>
          </a:p>
          <a:p>
            <a:pPr marL="580389" lvl="1" indent="-342900">
              <a:lnSpc>
                <a:spcPts val="3079"/>
              </a:lnSpc>
              <a:buFont typeface="Arial" panose="020B0604020202020204" pitchFamily="34" charset="0"/>
              <a:buChar char="•"/>
            </a:pPr>
            <a:r>
              <a:rPr lang="en-US" sz="2000" dirty="0">
                <a:solidFill>
                  <a:srgbClr val="2C2C2C"/>
                </a:solidFill>
                <a:latin typeface="Nourd"/>
              </a:rPr>
              <a:t>This dataset consists of 10,000 rows and 10 features among which, Float – 4, Integer – 1 and Object – 5. </a:t>
            </a:r>
          </a:p>
        </p:txBody>
      </p:sp>
      <p:sp>
        <p:nvSpPr>
          <p:cNvPr id="14" name="TextBox 14"/>
          <p:cNvSpPr txBox="1"/>
          <p:nvPr/>
        </p:nvSpPr>
        <p:spPr>
          <a:xfrm>
            <a:off x="884830" y="5317624"/>
            <a:ext cx="17106900" cy="1570430"/>
          </a:xfrm>
          <a:prstGeom prst="rect">
            <a:avLst/>
          </a:prstGeom>
        </p:spPr>
        <p:txBody>
          <a:bodyPr wrap="square" lIns="0" tIns="0" rIns="0" bIns="0" rtlCol="0" anchor="t">
            <a:spAutoFit/>
          </a:bodyPr>
          <a:lstStyle>
            <a:defPPr>
              <a:defRPr lang="en-US"/>
            </a:defPPr>
            <a:lvl2pPr marL="580389" lvl="1" indent="-342900">
              <a:lnSpc>
                <a:spcPts val="3079"/>
              </a:lnSpc>
              <a:buFont typeface="Arial" panose="020B0604020202020204" pitchFamily="34" charset="0"/>
              <a:buChar char="•"/>
              <a:defRPr sz="2000">
                <a:solidFill>
                  <a:srgbClr val="2C2C2C"/>
                </a:solidFill>
                <a:latin typeface="Nourd"/>
              </a:defRPr>
            </a:lvl2pPr>
          </a:lstStyle>
          <a:p>
            <a:pPr lvl="1"/>
            <a:r>
              <a:rPr lang="en-US" dirty="0"/>
              <a:t>Data Cleaning: Removed inconsistencies and ensured no missing values. </a:t>
            </a:r>
          </a:p>
          <a:p>
            <a:pPr lvl="1"/>
            <a:r>
              <a:rPr lang="en-US" dirty="0"/>
              <a:t>Feature Engineering: Extracted temporal attributes (e.g., hour) and encoded categorical features using label and one-hot encoding.</a:t>
            </a:r>
          </a:p>
          <a:p>
            <a:pPr lvl="1"/>
            <a:r>
              <a:rPr lang="en-US" dirty="0"/>
              <a:t>Class Imbalance Handling: Used SMOTE to balance click and no-click records.</a:t>
            </a:r>
          </a:p>
          <a:p>
            <a:pPr lvl="1"/>
            <a:r>
              <a:rPr lang="en-US" dirty="0"/>
              <a:t>Feature Selection: Prioritized key predictors (e.g., daily site time, internet usage, age).</a:t>
            </a:r>
            <a:endParaRPr lang="en-US" dirty="0">
              <a:sym typeface="Nourd Bold"/>
            </a:endParaRPr>
          </a:p>
        </p:txBody>
      </p:sp>
      <p:pic>
        <p:nvPicPr>
          <p:cNvPr id="15" name="image1.png" descr="A logo with blue text&#10;&#10;Description automatically generated">
            <a:extLst>
              <a:ext uri="{FF2B5EF4-FFF2-40B4-BE49-F238E27FC236}">
                <a16:creationId xmlns:a16="http://schemas.microsoft.com/office/drawing/2014/main" id="{AF0E604A-D4AB-6474-E6DD-DB3D730653C2}"/>
              </a:ext>
            </a:extLst>
          </p:cNvPr>
          <p:cNvPicPr/>
          <p:nvPr/>
        </p:nvPicPr>
        <p:blipFill>
          <a:blip r:embed="rId6"/>
          <a:srcRect/>
          <a:stretch>
            <a:fillRect/>
          </a:stretch>
        </p:blipFill>
        <p:spPr>
          <a:xfrm>
            <a:off x="15851588" y="103538"/>
            <a:ext cx="1589741" cy="889385"/>
          </a:xfrm>
          <a:prstGeom prst="rect">
            <a:avLst/>
          </a:prstGeom>
          <a:ln/>
        </p:spPr>
      </p:pic>
      <p:sp>
        <p:nvSpPr>
          <p:cNvPr id="16" name="TextBox 12">
            <a:extLst>
              <a:ext uri="{FF2B5EF4-FFF2-40B4-BE49-F238E27FC236}">
                <a16:creationId xmlns:a16="http://schemas.microsoft.com/office/drawing/2014/main" id="{3960CD8E-7A5B-B3DA-F2E5-53509FF70969}"/>
              </a:ext>
            </a:extLst>
          </p:cNvPr>
          <p:cNvSpPr txBox="1"/>
          <p:nvPr/>
        </p:nvSpPr>
        <p:spPr>
          <a:xfrm>
            <a:off x="884830" y="7546581"/>
            <a:ext cx="17106900" cy="757259"/>
          </a:xfrm>
          <a:prstGeom prst="rect">
            <a:avLst/>
          </a:prstGeom>
        </p:spPr>
        <p:txBody>
          <a:bodyPr wrap="square" lIns="0" tIns="0" rIns="0" bIns="0" rtlCol="0" anchor="t">
            <a:spAutoFit/>
          </a:bodyPr>
          <a:lstStyle/>
          <a:p>
            <a:pPr marL="580389" lvl="1" indent="-342900">
              <a:lnSpc>
                <a:spcPts val="3079"/>
              </a:lnSpc>
              <a:buFont typeface="Arial" panose="020B0604020202020204" pitchFamily="34" charset="0"/>
              <a:buChar char="•"/>
            </a:pPr>
            <a:r>
              <a:rPr lang="en-US" sz="2000" dirty="0">
                <a:solidFill>
                  <a:srgbClr val="2C2C2C"/>
                </a:solidFill>
                <a:latin typeface="Nourd"/>
              </a:rPr>
              <a:t>Random Forest (RF) : Used because it handles complex feature interactions and robust against overfitting.</a:t>
            </a:r>
          </a:p>
          <a:p>
            <a:pPr marL="580389" lvl="1" indent="-342900">
              <a:lnSpc>
                <a:spcPts val="3079"/>
              </a:lnSpc>
              <a:buFont typeface="Arial" panose="020B0604020202020204" pitchFamily="34" charset="0"/>
              <a:buChar char="•"/>
            </a:pPr>
            <a:r>
              <a:rPr lang="en-US" sz="2000" dirty="0">
                <a:solidFill>
                  <a:srgbClr val="2C2C2C"/>
                </a:solidFill>
                <a:latin typeface="Nourd"/>
              </a:rPr>
              <a:t>Support Vector Machine (SVM) : Used because it excels in high-dimensional classification with kernel optimization.</a:t>
            </a:r>
          </a:p>
        </p:txBody>
      </p:sp>
      <p:sp>
        <p:nvSpPr>
          <p:cNvPr id="18" name="Freeform 10">
            <a:extLst>
              <a:ext uri="{FF2B5EF4-FFF2-40B4-BE49-F238E27FC236}">
                <a16:creationId xmlns:a16="http://schemas.microsoft.com/office/drawing/2014/main" id="{A03E62C0-FB59-8C2A-EFF2-0F19CFE5BD62}"/>
              </a:ext>
            </a:extLst>
          </p:cNvPr>
          <p:cNvSpPr/>
          <p:nvPr/>
        </p:nvSpPr>
        <p:spPr>
          <a:xfrm>
            <a:off x="856347" y="8436319"/>
            <a:ext cx="3543300" cy="471846"/>
          </a:xfrm>
          <a:custGeom>
            <a:avLst/>
            <a:gdLst/>
            <a:ahLst/>
            <a:cxnLst/>
            <a:rect l="l" t="t" r="r" b="b"/>
            <a:pathLst>
              <a:path w="2516515" h="471846">
                <a:moveTo>
                  <a:pt x="0" y="0"/>
                </a:moveTo>
                <a:lnTo>
                  <a:pt x="2516515" y="0"/>
                </a:lnTo>
                <a:lnTo>
                  <a:pt x="2516515" y="471847"/>
                </a:lnTo>
                <a:lnTo>
                  <a:pt x="0" y="4718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TextBox 11">
            <a:extLst>
              <a:ext uri="{FF2B5EF4-FFF2-40B4-BE49-F238E27FC236}">
                <a16:creationId xmlns:a16="http://schemas.microsoft.com/office/drawing/2014/main" id="{EEFA851C-EDB8-F13F-39EC-BF53FB05C26B}"/>
              </a:ext>
            </a:extLst>
          </p:cNvPr>
          <p:cNvSpPr txBox="1"/>
          <p:nvPr/>
        </p:nvSpPr>
        <p:spPr>
          <a:xfrm>
            <a:off x="1028700" y="8436319"/>
            <a:ext cx="3543300" cy="431528"/>
          </a:xfrm>
          <a:prstGeom prst="rect">
            <a:avLst/>
          </a:prstGeom>
        </p:spPr>
        <p:txBody>
          <a:bodyPr wrap="square" lIns="0" tIns="0" rIns="0" bIns="0" rtlCol="0" anchor="t">
            <a:spAutoFit/>
          </a:bodyPr>
          <a:lstStyle>
            <a:defPPr>
              <a:defRPr lang="en-US"/>
            </a:defPPr>
            <a:lvl1pPr>
              <a:lnSpc>
                <a:spcPts val="3640"/>
              </a:lnSpc>
              <a:defRPr sz="2600">
                <a:solidFill>
                  <a:srgbClr val="2C2C2C"/>
                </a:solidFill>
                <a:latin typeface="Nourd Semi-Bold"/>
                <a:ea typeface="Nourd Semi-Bold"/>
                <a:cs typeface="Nourd Semi-Bold"/>
              </a:defRPr>
            </a:lvl1pPr>
          </a:lstStyle>
          <a:p>
            <a:r>
              <a:rPr lang="en-US" dirty="0"/>
              <a:t>Evaluation Metrics:</a:t>
            </a:r>
            <a:endParaRPr lang="en-US" dirty="0">
              <a:sym typeface="Nourd Semi-Bold"/>
            </a:endParaRPr>
          </a:p>
        </p:txBody>
      </p:sp>
      <p:sp>
        <p:nvSpPr>
          <p:cNvPr id="19" name="TextBox 12">
            <a:extLst>
              <a:ext uri="{FF2B5EF4-FFF2-40B4-BE49-F238E27FC236}">
                <a16:creationId xmlns:a16="http://schemas.microsoft.com/office/drawing/2014/main" id="{D338F56A-7948-13CA-67CB-285101496B73}"/>
              </a:ext>
            </a:extLst>
          </p:cNvPr>
          <p:cNvSpPr txBox="1"/>
          <p:nvPr/>
        </p:nvSpPr>
        <p:spPr>
          <a:xfrm>
            <a:off x="939210" y="8965851"/>
            <a:ext cx="17106900" cy="1154803"/>
          </a:xfrm>
          <a:prstGeom prst="rect">
            <a:avLst/>
          </a:prstGeom>
        </p:spPr>
        <p:txBody>
          <a:bodyPr wrap="square" lIns="0" tIns="0" rIns="0" bIns="0" rtlCol="0" anchor="t">
            <a:spAutoFit/>
          </a:bodyPr>
          <a:lstStyle/>
          <a:p>
            <a:pPr marL="580389" lvl="1" indent="-342900">
              <a:lnSpc>
                <a:spcPts val="3079"/>
              </a:lnSpc>
              <a:buFont typeface="Arial" panose="020B0604020202020204" pitchFamily="34" charset="0"/>
              <a:buChar char="•"/>
            </a:pPr>
            <a:r>
              <a:rPr lang="en-US" sz="2000" dirty="0">
                <a:solidFill>
                  <a:srgbClr val="2C2C2C"/>
                </a:solidFill>
                <a:latin typeface="Nourd"/>
              </a:rPr>
              <a:t>Accuracy: Overall prediction correctness. </a:t>
            </a:r>
          </a:p>
          <a:p>
            <a:pPr marL="580389" lvl="1" indent="-342900">
              <a:lnSpc>
                <a:spcPts val="3079"/>
              </a:lnSpc>
              <a:buFont typeface="Arial" panose="020B0604020202020204" pitchFamily="34" charset="0"/>
              <a:buChar char="•"/>
            </a:pPr>
            <a:r>
              <a:rPr lang="en-US" sz="2000" dirty="0">
                <a:solidFill>
                  <a:srgbClr val="2C2C2C"/>
                </a:solidFill>
                <a:latin typeface="Nourd"/>
              </a:rPr>
              <a:t>Recall: Focused on identifying true positives (clicked ads).</a:t>
            </a:r>
          </a:p>
          <a:p>
            <a:pPr marL="580389" lvl="1" indent="-342900">
              <a:lnSpc>
                <a:spcPts val="3079"/>
              </a:lnSpc>
              <a:buFont typeface="Arial" panose="020B0604020202020204" pitchFamily="34" charset="0"/>
              <a:buChar char="•"/>
            </a:pPr>
            <a:r>
              <a:rPr lang="en-US" sz="2000" dirty="0">
                <a:solidFill>
                  <a:srgbClr val="2C2C2C"/>
                </a:solidFill>
                <a:latin typeface="Nourd"/>
              </a:rPr>
              <a:t>Precision &amp; F1-Score: Measured relevance and balance of predictions.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138614"/>
            <a:ext cx="9336398" cy="1308050"/>
          </a:xfrm>
          <a:prstGeom prst="rect">
            <a:avLst/>
          </a:prstGeom>
        </p:spPr>
        <p:txBody>
          <a:bodyPr lIns="0" tIns="0" rIns="0" bIns="0" rtlCol="0" anchor="t">
            <a:spAutoFit/>
          </a:bodyPr>
          <a:lstStyle/>
          <a:p>
            <a:pPr marL="0" lvl="0" indent="0" algn="l">
              <a:lnSpc>
                <a:spcPts val="10200"/>
              </a:lnSpc>
              <a:spcBef>
                <a:spcPct val="0"/>
              </a:spcBef>
            </a:pPr>
            <a:r>
              <a:rPr lang="en-US" sz="8500" dirty="0">
                <a:solidFill>
                  <a:srgbClr val="2C2C2C"/>
                </a:solidFill>
                <a:latin typeface="Nourd Semi-Bold"/>
              </a:rPr>
              <a:t>Results </a:t>
            </a:r>
            <a:endParaRPr lang="en-US" sz="8500" dirty="0">
              <a:solidFill>
                <a:srgbClr val="2C2C2C"/>
              </a:solidFill>
              <a:latin typeface="Nourd Semi-Bold"/>
              <a:sym typeface="Nourd Semi-Bold"/>
            </a:endParaRPr>
          </a:p>
        </p:txBody>
      </p:sp>
      <p:sp>
        <p:nvSpPr>
          <p:cNvPr id="3" name="AutoShape 3"/>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4" name="Freeform 4"/>
          <p:cNvSpPr/>
          <p:nvPr/>
        </p:nvSpPr>
        <p:spPr>
          <a:xfrm>
            <a:off x="4800600" y="1220069"/>
            <a:ext cx="703736" cy="774109"/>
          </a:xfrm>
          <a:custGeom>
            <a:avLst/>
            <a:gdLst/>
            <a:ahLst/>
            <a:cxnLst/>
            <a:rect l="l" t="t" r="r" b="b"/>
            <a:pathLst>
              <a:path w="703736" h="774109">
                <a:moveTo>
                  <a:pt x="0" y="0"/>
                </a:moveTo>
                <a:lnTo>
                  <a:pt x="703736" y="0"/>
                </a:lnTo>
                <a:lnTo>
                  <a:pt x="703736" y="774109"/>
                </a:lnTo>
                <a:lnTo>
                  <a:pt x="0" y="7741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1138900" y="2933700"/>
            <a:ext cx="6785900" cy="3648149"/>
            <a:chOff x="0" y="0"/>
            <a:chExt cx="8665850" cy="4864200"/>
          </a:xfrm>
        </p:grpSpPr>
        <p:sp>
          <p:nvSpPr>
            <p:cNvPr id="6" name="TextBox 6"/>
            <p:cNvSpPr txBox="1"/>
            <p:nvPr/>
          </p:nvSpPr>
          <p:spPr>
            <a:xfrm>
              <a:off x="1224667" y="86892"/>
              <a:ext cx="5397669" cy="733535"/>
            </a:xfrm>
            <a:prstGeom prst="rect">
              <a:avLst/>
            </a:prstGeom>
          </p:spPr>
          <p:txBody>
            <a:bodyPr wrap="square" lIns="0" tIns="0" rIns="0" bIns="0" rtlCol="0" anchor="t">
              <a:spAutoFit/>
            </a:bodyPr>
            <a:lstStyle/>
            <a:p>
              <a:pPr algn="l">
                <a:lnSpc>
                  <a:spcPts val="4550"/>
                </a:lnSpc>
              </a:pPr>
              <a:r>
                <a:rPr lang="en-US" sz="3500" dirty="0">
                  <a:solidFill>
                    <a:srgbClr val="2C2C2C"/>
                  </a:solidFill>
                  <a:latin typeface="Nourd"/>
                  <a:ea typeface="Nourd"/>
                  <a:cs typeface="Nourd"/>
                  <a:sym typeface="Nourd"/>
                </a:rPr>
                <a:t>Random Forest (RF):</a:t>
              </a:r>
            </a:p>
          </p:txBody>
        </p:sp>
        <p:sp>
          <p:nvSpPr>
            <p:cNvPr id="7" name="TextBox 7"/>
            <p:cNvSpPr txBox="1"/>
            <p:nvPr/>
          </p:nvSpPr>
          <p:spPr>
            <a:xfrm>
              <a:off x="57313" y="1204223"/>
              <a:ext cx="8608537" cy="3659977"/>
            </a:xfrm>
            <a:prstGeom prst="rect">
              <a:avLst/>
            </a:prstGeom>
          </p:spPr>
          <p:txBody>
            <a:bodyPr wrap="square" lIns="0" tIns="0" rIns="0" bIns="0" rtlCol="0" anchor="t">
              <a:spAutoFit/>
            </a:bodyPr>
            <a:lstStyle/>
            <a:p>
              <a:pPr marL="342900" indent="-342900">
                <a:lnSpc>
                  <a:spcPts val="3080"/>
                </a:lnSpc>
                <a:buFont typeface="Arial" panose="020B0604020202020204" pitchFamily="34" charset="0"/>
                <a:buChar char="•"/>
              </a:pPr>
              <a:r>
                <a:rPr lang="en-US" sz="2000" dirty="0">
                  <a:solidFill>
                    <a:srgbClr val="2C2C2C"/>
                  </a:solidFill>
                  <a:latin typeface="Nourd"/>
                </a:rPr>
                <a:t>Accuracy: 84.6%, Recall: 84.1%.</a:t>
              </a:r>
            </a:p>
            <a:p>
              <a:pPr>
                <a:lnSpc>
                  <a:spcPts val="3080"/>
                </a:lnSpc>
              </a:pPr>
              <a:endParaRPr lang="en-US" sz="2000" dirty="0">
                <a:solidFill>
                  <a:srgbClr val="2C2C2C"/>
                </a:solidFill>
                <a:latin typeface="Nourd"/>
              </a:endParaRPr>
            </a:p>
            <a:p>
              <a:pPr marL="342900" indent="-342900">
                <a:lnSpc>
                  <a:spcPts val="3080"/>
                </a:lnSpc>
                <a:buFont typeface="Arial" panose="020B0604020202020204" pitchFamily="34" charset="0"/>
                <a:buChar char="•"/>
              </a:pPr>
              <a:r>
                <a:rPr lang="en-US" sz="2000" dirty="0">
                  <a:solidFill>
                    <a:srgbClr val="2C2C2C"/>
                  </a:solidFill>
                  <a:latin typeface="Nourd"/>
                </a:rPr>
                <a:t>Best performance with 300 estimators (recall = 84.9%).</a:t>
              </a:r>
            </a:p>
            <a:p>
              <a:pPr>
                <a:lnSpc>
                  <a:spcPts val="3080"/>
                </a:lnSpc>
              </a:pPr>
              <a:endParaRPr lang="en-US" sz="2000" dirty="0">
                <a:solidFill>
                  <a:srgbClr val="2C2C2C"/>
                </a:solidFill>
                <a:latin typeface="Nourd"/>
                <a:sym typeface="Nourd"/>
              </a:endParaRPr>
            </a:p>
            <a:p>
              <a:pPr marL="342900" indent="-342900">
                <a:lnSpc>
                  <a:spcPts val="3080"/>
                </a:lnSpc>
                <a:buFont typeface="Arial" panose="020B0604020202020204" pitchFamily="34" charset="0"/>
                <a:buChar char="•"/>
              </a:pPr>
              <a:r>
                <a:rPr lang="en-US" sz="2000" dirty="0">
                  <a:solidFill>
                    <a:srgbClr val="2C2C2C"/>
                  </a:solidFill>
                  <a:latin typeface="Nourd"/>
                </a:rPr>
                <a:t>Random Forest offers a balanced accuracy, performing well across both precision and recall, making it robust for general use.</a:t>
              </a:r>
              <a:endParaRPr lang="en-US" sz="2000" dirty="0">
                <a:solidFill>
                  <a:srgbClr val="2C2C2C"/>
                </a:solidFill>
                <a:latin typeface="Nourd"/>
                <a:sym typeface="Nourd"/>
              </a:endParaRPr>
            </a:p>
          </p:txBody>
        </p:sp>
        <p:sp>
          <p:nvSpPr>
            <p:cNvPr id="8" name="Freeform 8"/>
            <p:cNvSpPr/>
            <p:nvPr/>
          </p:nvSpPr>
          <p:spPr>
            <a:xfrm>
              <a:off x="0" y="0"/>
              <a:ext cx="939280" cy="978416"/>
            </a:xfrm>
            <a:custGeom>
              <a:avLst/>
              <a:gdLst/>
              <a:ahLst/>
              <a:cxnLst/>
              <a:rect l="l" t="t" r="r" b="b"/>
              <a:pathLst>
                <a:path w="939280" h="978416">
                  <a:moveTo>
                    <a:pt x="0" y="0"/>
                  </a:moveTo>
                  <a:lnTo>
                    <a:pt x="939280" y="0"/>
                  </a:lnTo>
                  <a:lnTo>
                    <a:pt x="939280" y="978416"/>
                  </a:lnTo>
                  <a:lnTo>
                    <a:pt x="0" y="9784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118851" y="109266"/>
              <a:ext cx="701577" cy="731308"/>
            </a:xfrm>
            <a:prstGeom prst="rect">
              <a:avLst/>
            </a:prstGeom>
          </p:spPr>
          <p:txBody>
            <a:bodyPr lIns="0" tIns="0" rIns="0" bIns="0" rtlCol="0" anchor="t">
              <a:spAutoFit/>
            </a:bodyPr>
            <a:lstStyle/>
            <a:p>
              <a:pPr algn="ctr">
                <a:lnSpc>
                  <a:spcPts val="4550"/>
                </a:lnSpc>
              </a:pPr>
              <a:r>
                <a:rPr lang="en-US" sz="3500">
                  <a:solidFill>
                    <a:srgbClr val="2C2C2C"/>
                  </a:solidFill>
                  <a:latin typeface="Nourd"/>
                  <a:ea typeface="Nourd"/>
                  <a:cs typeface="Nourd"/>
                  <a:sym typeface="Nourd"/>
                </a:rPr>
                <a:t>1</a:t>
              </a:r>
            </a:p>
          </p:txBody>
        </p:sp>
      </p:grpSp>
      <p:grpSp>
        <p:nvGrpSpPr>
          <p:cNvPr id="10" name="Group 10"/>
          <p:cNvGrpSpPr/>
          <p:nvPr/>
        </p:nvGrpSpPr>
        <p:grpSpPr>
          <a:xfrm>
            <a:off x="9429664" y="2933700"/>
            <a:ext cx="7719436" cy="3709048"/>
            <a:chOff x="-7643" y="0"/>
            <a:chExt cx="7347093" cy="4945397"/>
          </a:xfrm>
        </p:grpSpPr>
        <p:sp>
          <p:nvSpPr>
            <p:cNvPr id="11" name="TextBox 11"/>
            <p:cNvSpPr txBox="1"/>
            <p:nvPr/>
          </p:nvSpPr>
          <p:spPr>
            <a:xfrm>
              <a:off x="1227284" y="128037"/>
              <a:ext cx="6112166" cy="1520074"/>
            </a:xfrm>
            <a:prstGeom prst="rect">
              <a:avLst/>
            </a:prstGeom>
          </p:spPr>
          <p:txBody>
            <a:bodyPr lIns="0" tIns="0" rIns="0" bIns="0" rtlCol="0" anchor="t">
              <a:spAutoFit/>
            </a:bodyPr>
            <a:lstStyle/>
            <a:p>
              <a:pPr algn="l">
                <a:lnSpc>
                  <a:spcPts val="4550"/>
                </a:lnSpc>
              </a:pPr>
              <a:r>
                <a:rPr lang="en-US" sz="3500" dirty="0">
                  <a:solidFill>
                    <a:srgbClr val="2C2C2C"/>
                  </a:solidFill>
                  <a:latin typeface="Nourd"/>
                  <a:ea typeface="Nourd"/>
                  <a:cs typeface="Nourd"/>
                  <a:sym typeface="Nourd"/>
                </a:rPr>
                <a:t>Support Vector Machine (SVM):</a:t>
              </a:r>
            </a:p>
          </p:txBody>
        </p:sp>
        <p:sp>
          <p:nvSpPr>
            <p:cNvPr id="12" name="TextBox 12"/>
            <p:cNvSpPr txBox="1"/>
            <p:nvPr/>
          </p:nvSpPr>
          <p:spPr>
            <a:xfrm>
              <a:off x="-7643" y="1277213"/>
              <a:ext cx="7347093" cy="3668184"/>
            </a:xfrm>
            <a:prstGeom prst="rect">
              <a:avLst/>
            </a:prstGeom>
          </p:spPr>
          <p:txBody>
            <a:bodyPr wrap="square" lIns="0" tIns="0" rIns="0" bIns="0" rtlCol="0" anchor="t">
              <a:spAutoFit/>
            </a:bodyPr>
            <a:lstStyle/>
            <a:p>
              <a:pPr marL="342900" indent="-342900">
                <a:lnSpc>
                  <a:spcPts val="3080"/>
                </a:lnSpc>
                <a:buFont typeface="Arial" panose="020B0604020202020204" pitchFamily="34" charset="0"/>
                <a:buChar char="•"/>
              </a:pPr>
              <a:r>
                <a:rPr lang="en-US" sz="2200" dirty="0">
                  <a:solidFill>
                    <a:srgbClr val="2C2C2C"/>
                  </a:solidFill>
                  <a:latin typeface="Nourd"/>
                </a:rPr>
                <a:t>Accuracy: 84.5%, Recall: 85.7%.</a:t>
              </a:r>
            </a:p>
            <a:p>
              <a:pPr>
                <a:lnSpc>
                  <a:spcPts val="3080"/>
                </a:lnSpc>
              </a:pPr>
              <a:endParaRPr lang="en-US" sz="2200" dirty="0">
                <a:solidFill>
                  <a:srgbClr val="2C2C2C"/>
                </a:solidFill>
                <a:latin typeface="Nourd"/>
              </a:endParaRPr>
            </a:p>
            <a:p>
              <a:pPr marL="342900" indent="-342900">
                <a:lnSpc>
                  <a:spcPts val="3080"/>
                </a:lnSpc>
                <a:buFont typeface="Arial" panose="020B0604020202020204" pitchFamily="34" charset="0"/>
                <a:buChar char="•"/>
              </a:pPr>
              <a:r>
                <a:rPr lang="en-US" sz="2200" dirty="0">
                  <a:solidFill>
                    <a:srgbClr val="2C2C2C"/>
                  </a:solidFill>
                  <a:latin typeface="Nourd"/>
                </a:rPr>
                <a:t>Best performance with sigmoid kernel (recall = 85.7%).</a:t>
              </a:r>
            </a:p>
            <a:p>
              <a:pPr>
                <a:lnSpc>
                  <a:spcPts val="3080"/>
                </a:lnSpc>
              </a:pPr>
              <a:endParaRPr lang="en-US" sz="2200" dirty="0">
                <a:solidFill>
                  <a:srgbClr val="2C2C2C"/>
                </a:solidFill>
                <a:latin typeface="Nourd"/>
              </a:endParaRPr>
            </a:p>
            <a:p>
              <a:pPr marL="342900" indent="-342900">
                <a:lnSpc>
                  <a:spcPts val="3080"/>
                </a:lnSpc>
                <a:buFont typeface="Arial" panose="020B0604020202020204" pitchFamily="34" charset="0"/>
                <a:buChar char="•"/>
              </a:pPr>
              <a:r>
                <a:rPr lang="en-US" sz="2200" dirty="0">
                  <a:solidFill>
                    <a:srgbClr val="2C2C2C"/>
                  </a:solidFill>
                  <a:latin typeface="Nourd"/>
                </a:rPr>
                <a:t>SVM excels in recall, prioritizing the identification of true positives over accuracy, making it ideal for cases where detecting all positives is crucial.</a:t>
              </a:r>
            </a:p>
          </p:txBody>
        </p:sp>
        <p:sp>
          <p:nvSpPr>
            <p:cNvPr id="13" name="Freeform 13"/>
            <p:cNvSpPr/>
            <p:nvPr/>
          </p:nvSpPr>
          <p:spPr>
            <a:xfrm>
              <a:off x="0" y="0"/>
              <a:ext cx="939280" cy="978416"/>
            </a:xfrm>
            <a:custGeom>
              <a:avLst/>
              <a:gdLst/>
              <a:ahLst/>
              <a:cxnLst/>
              <a:rect l="l" t="t" r="r" b="b"/>
              <a:pathLst>
                <a:path w="939280" h="978416">
                  <a:moveTo>
                    <a:pt x="0" y="0"/>
                  </a:moveTo>
                  <a:lnTo>
                    <a:pt x="939280" y="0"/>
                  </a:lnTo>
                  <a:lnTo>
                    <a:pt x="939280" y="978416"/>
                  </a:lnTo>
                  <a:lnTo>
                    <a:pt x="0" y="9784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TextBox 14"/>
            <p:cNvSpPr txBox="1"/>
            <p:nvPr/>
          </p:nvSpPr>
          <p:spPr>
            <a:xfrm>
              <a:off x="118851" y="109266"/>
              <a:ext cx="701577" cy="731308"/>
            </a:xfrm>
            <a:prstGeom prst="rect">
              <a:avLst/>
            </a:prstGeom>
          </p:spPr>
          <p:txBody>
            <a:bodyPr lIns="0" tIns="0" rIns="0" bIns="0" rtlCol="0" anchor="t">
              <a:spAutoFit/>
            </a:bodyPr>
            <a:lstStyle/>
            <a:p>
              <a:pPr algn="ctr">
                <a:lnSpc>
                  <a:spcPts val="4550"/>
                </a:lnSpc>
              </a:pPr>
              <a:r>
                <a:rPr lang="en-US" sz="3500">
                  <a:solidFill>
                    <a:srgbClr val="2C2C2C"/>
                  </a:solidFill>
                  <a:latin typeface="Nourd"/>
                  <a:ea typeface="Nourd"/>
                  <a:cs typeface="Nourd"/>
                  <a:sym typeface="Nourd"/>
                </a:rPr>
                <a:t>2</a:t>
              </a:r>
            </a:p>
          </p:txBody>
        </p:sp>
      </p:grpSp>
      <p:sp>
        <p:nvSpPr>
          <p:cNvPr id="21" name="AutoShape 21"/>
          <p:cNvSpPr/>
          <p:nvPr/>
        </p:nvSpPr>
        <p:spPr>
          <a:xfrm>
            <a:off x="0" y="9367838"/>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22" name="TextBox 22"/>
          <p:cNvSpPr txBox="1"/>
          <p:nvPr/>
        </p:nvSpPr>
        <p:spPr>
          <a:xfrm>
            <a:off x="1137231" y="7181552"/>
            <a:ext cx="16304098" cy="2000548"/>
          </a:xfrm>
          <a:prstGeom prst="rect">
            <a:avLst/>
          </a:prstGeom>
        </p:spPr>
        <p:txBody>
          <a:bodyPr wrap="square" lIns="0" tIns="0" rIns="0" bIns="0" rtlCol="0" anchor="t">
            <a:spAutoFit/>
          </a:bodyPr>
          <a:lstStyle/>
          <a:p>
            <a:pPr algn="l">
              <a:lnSpc>
                <a:spcPts val="2600"/>
              </a:lnSpc>
            </a:pPr>
            <a:r>
              <a:rPr lang="en-US" sz="3500" dirty="0">
                <a:solidFill>
                  <a:srgbClr val="2C2C2C"/>
                </a:solidFill>
                <a:latin typeface="Nourd"/>
                <a:sym typeface="Nourd Bold"/>
              </a:rPr>
              <a:t>Key Insights:</a:t>
            </a:r>
          </a:p>
          <a:p>
            <a:pPr algn="l">
              <a:lnSpc>
                <a:spcPts val="2600"/>
              </a:lnSpc>
            </a:pPr>
            <a:r>
              <a:rPr lang="en-US" sz="3500" dirty="0">
                <a:solidFill>
                  <a:srgbClr val="2C2C2C"/>
                </a:solidFill>
                <a:latin typeface="Nourd"/>
                <a:sym typeface="Nourd Bold"/>
              </a:rPr>
              <a:t> </a:t>
            </a:r>
          </a:p>
          <a:p>
            <a:pPr algn="l">
              <a:lnSpc>
                <a:spcPts val="2600"/>
              </a:lnSpc>
            </a:pPr>
            <a:r>
              <a:rPr lang="en-US" sz="2200" dirty="0">
                <a:solidFill>
                  <a:srgbClr val="2C2C2C"/>
                </a:solidFill>
                <a:latin typeface="Nourd"/>
              </a:rPr>
              <a:t>The </a:t>
            </a:r>
            <a:r>
              <a:rPr lang="en-US" sz="2200" b="1" dirty="0">
                <a:solidFill>
                  <a:srgbClr val="2C2C2C"/>
                </a:solidFill>
                <a:latin typeface="Nourd"/>
              </a:rPr>
              <a:t>Random Forest (RF) </a:t>
            </a:r>
            <a:r>
              <a:rPr lang="en-US" sz="2200" dirty="0">
                <a:solidFill>
                  <a:srgbClr val="2C2C2C"/>
                </a:solidFill>
                <a:latin typeface="Nourd"/>
              </a:rPr>
              <a:t>model offers a balanced performance, delivering a solid mix of accuracy and recall, with optimal results at 300 estimators. This makes it suitable for general classification tasks. On the other hand, the </a:t>
            </a:r>
            <a:r>
              <a:rPr lang="en-US" sz="2200" b="1" dirty="0">
                <a:solidFill>
                  <a:srgbClr val="2C2C2C"/>
                </a:solidFill>
                <a:latin typeface="Nourd"/>
              </a:rPr>
              <a:t>Support Vector Machine (SVM) </a:t>
            </a:r>
            <a:r>
              <a:rPr lang="en-US" sz="2200" dirty="0">
                <a:solidFill>
                  <a:srgbClr val="2C2C2C"/>
                </a:solidFill>
                <a:latin typeface="Nourd"/>
              </a:rPr>
              <a:t>model prioritizes recall, excelling at identifying true positive cases. This makes SVM particularly well-suited for situations where it is crucial to detect every true positive and perform better when predicting Click-Through Rate (CTR).</a:t>
            </a:r>
          </a:p>
        </p:txBody>
      </p:sp>
      <p:pic>
        <p:nvPicPr>
          <p:cNvPr id="24" name="image1.png" descr="A logo with blue text&#10;&#10;Description automatically generated">
            <a:extLst>
              <a:ext uri="{FF2B5EF4-FFF2-40B4-BE49-F238E27FC236}">
                <a16:creationId xmlns:a16="http://schemas.microsoft.com/office/drawing/2014/main" id="{CCA7E48F-364F-B8F1-0732-0CB04BC8BD50}"/>
              </a:ext>
            </a:extLst>
          </p:cNvPr>
          <p:cNvPicPr/>
          <p:nvPr/>
        </p:nvPicPr>
        <p:blipFill>
          <a:blip r:embed="rId8"/>
          <a:srcRect/>
          <a:stretch>
            <a:fillRect/>
          </a:stretch>
        </p:blipFill>
        <p:spPr>
          <a:xfrm>
            <a:off x="15851588" y="103538"/>
            <a:ext cx="1589741" cy="889385"/>
          </a:xfrm>
          <a:prstGeom prst="rect">
            <a:avLst/>
          </a:prstGeo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467603" y="1202667"/>
            <a:ext cx="10820398" cy="9084333"/>
          </a:xfrm>
          <a:prstGeom prst="rect">
            <a:avLst/>
          </a:prstGeom>
          <a:solidFill>
            <a:srgbClr val="EDF0F2"/>
          </a:solidFill>
        </p:spPr>
        <p:txBody>
          <a:bodyPr/>
          <a:lstStyle/>
          <a:p>
            <a:endParaRPr lang="en-US"/>
          </a:p>
        </p:txBody>
      </p:sp>
      <p:grpSp>
        <p:nvGrpSpPr>
          <p:cNvPr id="3" name="Group 3"/>
          <p:cNvGrpSpPr/>
          <p:nvPr/>
        </p:nvGrpSpPr>
        <p:grpSpPr>
          <a:xfrm>
            <a:off x="7973843" y="1658154"/>
            <a:ext cx="3886232" cy="3905280"/>
            <a:chOff x="-165231" y="-352812"/>
            <a:chExt cx="891290" cy="895659"/>
          </a:xfrm>
        </p:grpSpPr>
        <p:sp>
          <p:nvSpPr>
            <p:cNvPr id="4" name="Freeform 4"/>
            <p:cNvSpPr/>
            <p:nvPr/>
          </p:nvSpPr>
          <p:spPr>
            <a:xfrm>
              <a:off x="-165231" y="-352812"/>
              <a:ext cx="891290" cy="895659"/>
            </a:xfrm>
            <a:custGeom>
              <a:avLst/>
              <a:gdLst/>
              <a:ahLst/>
              <a:cxnLst/>
              <a:rect l="l" t="t" r="r" b="b"/>
              <a:pathLst>
                <a:path w="873234" h="895659">
                  <a:moveTo>
                    <a:pt x="713214" y="0"/>
                  </a:moveTo>
                  <a:lnTo>
                    <a:pt x="160020" y="0"/>
                  </a:lnTo>
                  <a:lnTo>
                    <a:pt x="0" y="160020"/>
                  </a:lnTo>
                  <a:lnTo>
                    <a:pt x="0" y="735639"/>
                  </a:lnTo>
                  <a:lnTo>
                    <a:pt x="160020" y="895659"/>
                  </a:lnTo>
                  <a:lnTo>
                    <a:pt x="713214" y="895659"/>
                  </a:lnTo>
                  <a:lnTo>
                    <a:pt x="873234" y="735639"/>
                  </a:lnTo>
                  <a:lnTo>
                    <a:pt x="873234" y="160020"/>
                  </a:lnTo>
                  <a:lnTo>
                    <a:pt x="713214" y="0"/>
                  </a:lnTo>
                  <a:close/>
                </a:path>
              </a:pathLst>
            </a:custGeom>
            <a:solidFill>
              <a:srgbClr val="FEDC44"/>
            </a:solidFill>
          </p:spPr>
          <p:txBody>
            <a:bodyPr/>
            <a:lstStyle/>
            <a:p>
              <a:endParaRPr lang="en-US"/>
            </a:p>
          </p:txBody>
        </p:sp>
        <p:sp>
          <p:nvSpPr>
            <p:cNvPr id="5" name="TextBox 5"/>
            <p:cNvSpPr txBox="1"/>
            <p:nvPr/>
          </p:nvSpPr>
          <p:spPr>
            <a:xfrm>
              <a:off x="-101731" y="-298837"/>
              <a:ext cx="761664" cy="778184"/>
            </a:xfrm>
            <a:prstGeom prst="rect">
              <a:avLst/>
            </a:prstGeom>
          </p:spPr>
          <p:txBody>
            <a:bodyPr lIns="50800" tIns="50800" rIns="50800" bIns="50800" rtlCol="0" anchor="ctr"/>
            <a:lstStyle/>
            <a:p>
              <a:pPr marL="431801" lvl="1" indent="-215900">
                <a:lnSpc>
                  <a:spcPts val="2600"/>
                </a:lnSpc>
                <a:buFont typeface="Arial"/>
                <a:buChar char="•"/>
              </a:pPr>
              <a:r>
                <a:rPr lang="en-US" sz="2000" b="1" dirty="0">
                  <a:solidFill>
                    <a:srgbClr val="2C2C2C"/>
                  </a:solidFill>
                  <a:latin typeface="Nourd"/>
                </a:rPr>
                <a:t>Daily Time Spent on Site: </a:t>
              </a:r>
              <a:r>
                <a:rPr lang="en-US" sz="2000" dirty="0">
                  <a:solidFill>
                    <a:srgbClr val="2C2C2C"/>
                  </a:solidFill>
                  <a:latin typeface="Nourd"/>
                </a:rPr>
                <a:t>This feature shows a strong correlation with a higher Click-Through Rate (CTR), suggesting that users spending more time on the site are more likely to engage with ads.</a:t>
              </a:r>
              <a:endParaRPr lang="en-US" sz="2000" dirty="0">
                <a:solidFill>
                  <a:srgbClr val="2C2C2C"/>
                </a:solidFill>
                <a:latin typeface="Nourd"/>
                <a:sym typeface="Nourd"/>
              </a:endParaRPr>
            </a:p>
          </p:txBody>
        </p:sp>
      </p:grpSp>
      <p:grpSp>
        <p:nvGrpSpPr>
          <p:cNvPr id="6" name="Group 6"/>
          <p:cNvGrpSpPr/>
          <p:nvPr/>
        </p:nvGrpSpPr>
        <p:grpSpPr>
          <a:xfrm>
            <a:off x="14094805" y="1658153"/>
            <a:ext cx="4001781" cy="3905280"/>
            <a:chOff x="0" y="-376356"/>
            <a:chExt cx="917791" cy="895659"/>
          </a:xfrm>
        </p:grpSpPr>
        <p:sp>
          <p:nvSpPr>
            <p:cNvPr id="7" name="Freeform 7"/>
            <p:cNvSpPr/>
            <p:nvPr/>
          </p:nvSpPr>
          <p:spPr>
            <a:xfrm>
              <a:off x="0" y="-376356"/>
              <a:ext cx="917791" cy="895659"/>
            </a:xfrm>
            <a:custGeom>
              <a:avLst/>
              <a:gdLst/>
              <a:ahLst/>
              <a:cxnLst/>
              <a:rect l="l" t="t" r="r" b="b"/>
              <a:pathLst>
                <a:path w="917791" h="895659">
                  <a:moveTo>
                    <a:pt x="757771" y="0"/>
                  </a:moveTo>
                  <a:lnTo>
                    <a:pt x="160020" y="0"/>
                  </a:lnTo>
                  <a:lnTo>
                    <a:pt x="0" y="160020"/>
                  </a:lnTo>
                  <a:lnTo>
                    <a:pt x="0" y="735639"/>
                  </a:lnTo>
                  <a:lnTo>
                    <a:pt x="160020" y="895659"/>
                  </a:lnTo>
                  <a:lnTo>
                    <a:pt x="757771" y="895659"/>
                  </a:lnTo>
                  <a:lnTo>
                    <a:pt x="917791" y="735639"/>
                  </a:lnTo>
                  <a:lnTo>
                    <a:pt x="917791" y="160020"/>
                  </a:lnTo>
                  <a:lnTo>
                    <a:pt x="757771" y="0"/>
                  </a:lnTo>
                  <a:close/>
                </a:path>
              </a:pathLst>
            </a:custGeom>
            <a:solidFill>
              <a:srgbClr val="FF3723"/>
            </a:solidFill>
          </p:spPr>
          <p:txBody>
            <a:bodyPr/>
            <a:lstStyle/>
            <a:p>
              <a:endParaRPr lang="en-US"/>
            </a:p>
          </p:txBody>
        </p:sp>
        <p:sp>
          <p:nvSpPr>
            <p:cNvPr id="8" name="TextBox 8"/>
            <p:cNvSpPr txBox="1"/>
            <p:nvPr/>
          </p:nvSpPr>
          <p:spPr>
            <a:xfrm>
              <a:off x="63500" y="-322381"/>
              <a:ext cx="790791" cy="778184"/>
            </a:xfrm>
            <a:prstGeom prst="rect">
              <a:avLst/>
            </a:prstGeom>
          </p:spPr>
          <p:txBody>
            <a:bodyPr lIns="50800" tIns="50800" rIns="50800" bIns="50800" rtlCol="0" anchor="ctr"/>
            <a:lstStyle/>
            <a:p>
              <a:pPr marL="431801" lvl="1" indent="-215900">
                <a:lnSpc>
                  <a:spcPts val="2600"/>
                </a:lnSpc>
                <a:buFont typeface="Arial"/>
                <a:buChar char="•"/>
              </a:pPr>
              <a:r>
                <a:rPr lang="en-US" sz="2000" b="1" dirty="0">
                  <a:solidFill>
                    <a:srgbClr val="FFFFFF"/>
                  </a:solidFill>
                  <a:latin typeface="Nourd"/>
                </a:rPr>
                <a:t>Daily Internet Usage: </a:t>
              </a:r>
              <a:r>
                <a:rPr lang="en-US" sz="2000" dirty="0">
                  <a:solidFill>
                    <a:srgbClr val="FFFFFF"/>
                  </a:solidFill>
                  <a:latin typeface="Nourd"/>
                </a:rPr>
                <a:t>Users with higher internet usage tend to show a greater likelihood of interacting with ads, as they are more active online overall.</a:t>
              </a:r>
              <a:endParaRPr lang="en-US" sz="2000" dirty="0">
                <a:solidFill>
                  <a:srgbClr val="FFFFFF"/>
                </a:solidFill>
                <a:latin typeface="Nourd"/>
                <a:sym typeface="Nourd"/>
              </a:endParaRPr>
            </a:p>
          </p:txBody>
        </p:sp>
      </p:grpSp>
      <p:grpSp>
        <p:nvGrpSpPr>
          <p:cNvPr id="9" name="Group 9"/>
          <p:cNvGrpSpPr/>
          <p:nvPr/>
        </p:nvGrpSpPr>
        <p:grpSpPr>
          <a:xfrm>
            <a:off x="11991434" y="3082339"/>
            <a:ext cx="1972012" cy="1294133"/>
            <a:chOff x="0" y="0"/>
            <a:chExt cx="812800" cy="533400"/>
          </a:xfrm>
        </p:grpSpPr>
        <p:sp>
          <p:nvSpPr>
            <p:cNvPr id="10" name="Freeform 10"/>
            <p:cNvSpPr/>
            <p:nvPr/>
          </p:nvSpPr>
          <p:spPr>
            <a:xfrm>
              <a:off x="0" y="0"/>
              <a:ext cx="812800" cy="533400"/>
            </a:xfrm>
            <a:custGeom>
              <a:avLst/>
              <a:gdLst/>
              <a:ahLst/>
              <a:cxnLst/>
              <a:rect l="l" t="t" r="r" b="b"/>
              <a:pathLst>
                <a:path w="812800" h="533400">
                  <a:moveTo>
                    <a:pt x="273050" y="0"/>
                  </a:moveTo>
                  <a:lnTo>
                    <a:pt x="0" y="266700"/>
                  </a:lnTo>
                  <a:lnTo>
                    <a:pt x="273050" y="533400"/>
                  </a:lnTo>
                  <a:lnTo>
                    <a:pt x="273050" y="400050"/>
                  </a:lnTo>
                  <a:lnTo>
                    <a:pt x="539750" y="400050"/>
                  </a:lnTo>
                  <a:lnTo>
                    <a:pt x="539750" y="533400"/>
                  </a:lnTo>
                  <a:lnTo>
                    <a:pt x="812800" y="266700"/>
                  </a:lnTo>
                  <a:lnTo>
                    <a:pt x="539750" y="0"/>
                  </a:lnTo>
                  <a:lnTo>
                    <a:pt x="539750" y="133350"/>
                  </a:lnTo>
                  <a:lnTo>
                    <a:pt x="273050" y="133350"/>
                  </a:lnTo>
                  <a:lnTo>
                    <a:pt x="273050" y="0"/>
                  </a:lnTo>
                  <a:close/>
                </a:path>
              </a:pathLst>
            </a:custGeom>
            <a:solidFill>
              <a:srgbClr val="2C2C2C"/>
            </a:solidFill>
          </p:spPr>
          <p:txBody>
            <a:bodyPr/>
            <a:lstStyle/>
            <a:p>
              <a:endParaRPr lang="en-US"/>
            </a:p>
          </p:txBody>
        </p:sp>
        <p:sp>
          <p:nvSpPr>
            <p:cNvPr id="11" name="TextBox 11"/>
            <p:cNvSpPr txBox="1"/>
            <p:nvPr/>
          </p:nvSpPr>
          <p:spPr>
            <a:xfrm>
              <a:off x="101600" y="130175"/>
              <a:ext cx="609600" cy="263525"/>
            </a:xfrm>
            <a:prstGeom prst="rect">
              <a:avLst/>
            </a:prstGeom>
          </p:spPr>
          <p:txBody>
            <a:bodyPr lIns="50800" tIns="50800" rIns="50800" bIns="50800" rtlCol="0" anchor="ctr"/>
            <a:lstStyle/>
            <a:p>
              <a:pPr algn="ctr">
                <a:lnSpc>
                  <a:spcPts val="2600"/>
                </a:lnSpc>
              </a:pPr>
              <a:endParaRPr/>
            </a:p>
          </p:txBody>
        </p:sp>
      </p:grpSp>
      <p:sp>
        <p:nvSpPr>
          <p:cNvPr id="12" name="TextBox 12"/>
          <p:cNvSpPr txBox="1"/>
          <p:nvPr/>
        </p:nvSpPr>
        <p:spPr>
          <a:xfrm>
            <a:off x="1028700" y="3282621"/>
            <a:ext cx="6550754" cy="2616101"/>
          </a:xfrm>
          <a:prstGeom prst="rect">
            <a:avLst/>
          </a:prstGeom>
        </p:spPr>
        <p:txBody>
          <a:bodyPr lIns="0" tIns="0" rIns="0" bIns="0" rtlCol="0" anchor="t">
            <a:spAutoFit/>
          </a:bodyPr>
          <a:lstStyle/>
          <a:p>
            <a:pPr marL="0" lvl="0" indent="0" algn="l">
              <a:lnSpc>
                <a:spcPts val="10200"/>
              </a:lnSpc>
              <a:spcBef>
                <a:spcPct val="0"/>
              </a:spcBef>
            </a:pPr>
            <a:r>
              <a:rPr lang="en-US" sz="8500" dirty="0">
                <a:solidFill>
                  <a:srgbClr val="2C2C2C"/>
                </a:solidFill>
                <a:latin typeface="Nourd Semi-Bold"/>
              </a:rPr>
              <a:t>Feature Importance</a:t>
            </a:r>
            <a:endParaRPr lang="en-US" sz="8500" dirty="0">
              <a:solidFill>
                <a:srgbClr val="2C2C2C"/>
              </a:solidFill>
              <a:latin typeface="Nourd Semi-Bold"/>
              <a:sym typeface="Nourd Semi-Bold"/>
            </a:endParaRPr>
          </a:p>
        </p:txBody>
      </p:sp>
      <p:sp>
        <p:nvSpPr>
          <p:cNvPr id="13" name="AutoShape 13"/>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14" name="AutoShape 14"/>
          <p:cNvSpPr/>
          <p:nvPr/>
        </p:nvSpPr>
        <p:spPr>
          <a:xfrm rot="-5400000">
            <a:off x="2926728" y="5743543"/>
            <a:ext cx="9093857" cy="12103"/>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15" name="Freeform 15"/>
          <p:cNvSpPr/>
          <p:nvPr/>
        </p:nvSpPr>
        <p:spPr>
          <a:xfrm rot="-7137048">
            <a:off x="6621199" y="7959665"/>
            <a:ext cx="1046354" cy="1338360"/>
          </a:xfrm>
          <a:custGeom>
            <a:avLst/>
            <a:gdLst/>
            <a:ahLst/>
            <a:cxnLst/>
            <a:rect l="l" t="t" r="r" b="b"/>
            <a:pathLst>
              <a:path w="1046354" h="1338360">
                <a:moveTo>
                  <a:pt x="0" y="0"/>
                </a:moveTo>
                <a:lnTo>
                  <a:pt x="1046354" y="0"/>
                </a:lnTo>
                <a:lnTo>
                  <a:pt x="1046354" y="1338360"/>
                </a:lnTo>
                <a:lnTo>
                  <a:pt x="0" y="13383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18" name="image1.png" descr="A logo with blue text&#10;&#10;Description automatically generated">
            <a:extLst>
              <a:ext uri="{FF2B5EF4-FFF2-40B4-BE49-F238E27FC236}">
                <a16:creationId xmlns:a16="http://schemas.microsoft.com/office/drawing/2014/main" id="{FA73821B-2431-351E-8B24-A42CA87CFCA5}"/>
              </a:ext>
            </a:extLst>
          </p:cNvPr>
          <p:cNvPicPr/>
          <p:nvPr/>
        </p:nvPicPr>
        <p:blipFill>
          <a:blip r:embed="rId4"/>
          <a:srcRect/>
          <a:stretch>
            <a:fillRect/>
          </a:stretch>
        </p:blipFill>
        <p:spPr>
          <a:xfrm>
            <a:off x="15851588" y="103538"/>
            <a:ext cx="1589741" cy="889385"/>
          </a:xfrm>
          <a:prstGeom prst="rect">
            <a:avLst/>
          </a:prstGeom>
          <a:ln/>
        </p:spPr>
      </p:pic>
      <p:sp>
        <p:nvSpPr>
          <p:cNvPr id="28" name="Freeform 4">
            <a:extLst>
              <a:ext uri="{FF2B5EF4-FFF2-40B4-BE49-F238E27FC236}">
                <a16:creationId xmlns:a16="http://schemas.microsoft.com/office/drawing/2014/main" id="{80AC924B-E520-5234-F482-140724607D4D}"/>
              </a:ext>
            </a:extLst>
          </p:cNvPr>
          <p:cNvSpPr/>
          <p:nvPr/>
        </p:nvSpPr>
        <p:spPr>
          <a:xfrm>
            <a:off x="8229682" y="5972577"/>
            <a:ext cx="3886232" cy="3905280"/>
          </a:xfrm>
          <a:custGeom>
            <a:avLst/>
            <a:gdLst/>
            <a:ahLst/>
            <a:cxnLst/>
            <a:rect l="l" t="t" r="r" b="b"/>
            <a:pathLst>
              <a:path w="873234" h="895659">
                <a:moveTo>
                  <a:pt x="713214" y="0"/>
                </a:moveTo>
                <a:lnTo>
                  <a:pt x="160020" y="0"/>
                </a:lnTo>
                <a:lnTo>
                  <a:pt x="0" y="160020"/>
                </a:lnTo>
                <a:lnTo>
                  <a:pt x="0" y="735639"/>
                </a:lnTo>
                <a:lnTo>
                  <a:pt x="160020" y="895659"/>
                </a:lnTo>
                <a:lnTo>
                  <a:pt x="713214" y="895659"/>
                </a:lnTo>
                <a:lnTo>
                  <a:pt x="873234" y="735639"/>
                </a:lnTo>
                <a:lnTo>
                  <a:pt x="873234" y="160020"/>
                </a:lnTo>
                <a:lnTo>
                  <a:pt x="713214" y="0"/>
                </a:lnTo>
                <a:close/>
              </a:path>
            </a:pathLst>
          </a:custGeom>
          <a:solidFill>
            <a:srgbClr val="FEDC44"/>
          </a:solidFill>
        </p:spPr>
        <p:txBody>
          <a:bodyPr/>
          <a:lstStyle/>
          <a:p>
            <a:endParaRPr lang="en-US"/>
          </a:p>
        </p:txBody>
      </p:sp>
      <p:sp>
        <p:nvSpPr>
          <p:cNvPr id="29" name="TextBox 5">
            <a:extLst>
              <a:ext uri="{FF2B5EF4-FFF2-40B4-BE49-F238E27FC236}">
                <a16:creationId xmlns:a16="http://schemas.microsoft.com/office/drawing/2014/main" id="{86B0122A-10DE-0C48-CCFD-EBE6C7501946}"/>
              </a:ext>
            </a:extLst>
          </p:cNvPr>
          <p:cNvSpPr txBox="1"/>
          <p:nvPr/>
        </p:nvSpPr>
        <p:spPr>
          <a:xfrm>
            <a:off x="8506557" y="6207920"/>
            <a:ext cx="3321032" cy="3393062"/>
          </a:xfrm>
          <a:prstGeom prst="rect">
            <a:avLst/>
          </a:prstGeom>
        </p:spPr>
        <p:txBody>
          <a:bodyPr lIns="50800" tIns="50800" rIns="50800" bIns="50800" rtlCol="0" anchor="ctr"/>
          <a:lstStyle/>
          <a:p>
            <a:pPr marL="431801" lvl="1" indent="-215900">
              <a:lnSpc>
                <a:spcPts val="2600"/>
              </a:lnSpc>
              <a:buFont typeface="Arial"/>
              <a:buChar char="•"/>
            </a:pPr>
            <a:r>
              <a:rPr lang="en-US" sz="2000" b="1" dirty="0">
                <a:solidFill>
                  <a:srgbClr val="2C2C2C"/>
                </a:solidFill>
                <a:latin typeface="Nourd"/>
              </a:rPr>
              <a:t>Age: </a:t>
            </a:r>
            <a:r>
              <a:rPr lang="en-US" sz="2000" dirty="0">
                <a:solidFill>
                  <a:srgbClr val="2C2C2C"/>
                </a:solidFill>
                <a:latin typeface="Nourd"/>
              </a:rPr>
              <a:t>Younger users exhibit higher engagement levels, indicating that age plays a significant role in ad responsiveness, with younger demographics more inclined to interact with online ads.</a:t>
            </a:r>
            <a:endParaRPr lang="en-US" sz="2000" dirty="0">
              <a:solidFill>
                <a:srgbClr val="2C2C2C"/>
              </a:solidFill>
              <a:latin typeface="Nourd"/>
              <a:sym typeface="Nourd"/>
            </a:endParaRPr>
          </a:p>
        </p:txBody>
      </p:sp>
      <p:sp>
        <p:nvSpPr>
          <p:cNvPr id="30" name="Freeform 7">
            <a:extLst>
              <a:ext uri="{FF2B5EF4-FFF2-40B4-BE49-F238E27FC236}">
                <a16:creationId xmlns:a16="http://schemas.microsoft.com/office/drawing/2014/main" id="{A4B75F97-8090-67CF-1161-6944FE926000}"/>
              </a:ext>
            </a:extLst>
          </p:cNvPr>
          <p:cNvSpPr/>
          <p:nvPr/>
        </p:nvSpPr>
        <p:spPr>
          <a:xfrm>
            <a:off x="14094805" y="5972577"/>
            <a:ext cx="4001781" cy="3905280"/>
          </a:xfrm>
          <a:custGeom>
            <a:avLst/>
            <a:gdLst/>
            <a:ahLst/>
            <a:cxnLst/>
            <a:rect l="l" t="t" r="r" b="b"/>
            <a:pathLst>
              <a:path w="917791" h="895659">
                <a:moveTo>
                  <a:pt x="757771" y="0"/>
                </a:moveTo>
                <a:lnTo>
                  <a:pt x="160020" y="0"/>
                </a:lnTo>
                <a:lnTo>
                  <a:pt x="0" y="160020"/>
                </a:lnTo>
                <a:lnTo>
                  <a:pt x="0" y="735639"/>
                </a:lnTo>
                <a:lnTo>
                  <a:pt x="160020" y="895659"/>
                </a:lnTo>
                <a:lnTo>
                  <a:pt x="757771" y="895659"/>
                </a:lnTo>
                <a:lnTo>
                  <a:pt x="917791" y="735639"/>
                </a:lnTo>
                <a:lnTo>
                  <a:pt x="917791" y="160020"/>
                </a:lnTo>
                <a:lnTo>
                  <a:pt x="757771" y="0"/>
                </a:lnTo>
                <a:close/>
              </a:path>
            </a:pathLst>
          </a:custGeom>
          <a:solidFill>
            <a:srgbClr val="FF3723"/>
          </a:solidFill>
        </p:spPr>
        <p:txBody>
          <a:bodyPr/>
          <a:lstStyle/>
          <a:p>
            <a:endParaRPr lang="en-US"/>
          </a:p>
        </p:txBody>
      </p:sp>
      <p:sp>
        <p:nvSpPr>
          <p:cNvPr id="31" name="TextBox 8">
            <a:extLst>
              <a:ext uri="{FF2B5EF4-FFF2-40B4-BE49-F238E27FC236}">
                <a16:creationId xmlns:a16="http://schemas.microsoft.com/office/drawing/2014/main" id="{F47D6BC4-8441-033F-21B1-ECB3C897D1CC}"/>
              </a:ext>
            </a:extLst>
          </p:cNvPr>
          <p:cNvSpPr txBox="1"/>
          <p:nvPr/>
        </p:nvSpPr>
        <p:spPr>
          <a:xfrm>
            <a:off x="14371680" y="6207920"/>
            <a:ext cx="3448032" cy="3393062"/>
          </a:xfrm>
          <a:prstGeom prst="rect">
            <a:avLst/>
          </a:prstGeom>
        </p:spPr>
        <p:txBody>
          <a:bodyPr lIns="50800" tIns="50800" rIns="50800" bIns="50800" rtlCol="0" anchor="ctr"/>
          <a:lstStyle/>
          <a:p>
            <a:pPr marL="431801" lvl="1" indent="-215900" algn="l">
              <a:lnSpc>
                <a:spcPts val="2600"/>
              </a:lnSpc>
              <a:buFont typeface="Arial"/>
              <a:buChar char="•"/>
            </a:pPr>
            <a:r>
              <a:rPr lang="en-US" sz="2000" b="1" dirty="0">
                <a:solidFill>
                  <a:srgbClr val="FFFFFF"/>
                </a:solidFill>
                <a:latin typeface="Nourd"/>
              </a:rPr>
              <a:t>Ad Content (Topic Line):</a:t>
            </a:r>
            <a:r>
              <a:rPr lang="en-US" sz="2000" dirty="0">
                <a:solidFill>
                  <a:srgbClr val="FFFFFF"/>
                </a:solidFill>
                <a:latin typeface="Nourd"/>
              </a:rPr>
              <a:t> The relevance of the ad content is crucial. Ads with targeted and appealing topic lines boost CTR by aligning with user interests.</a:t>
            </a:r>
            <a:endParaRPr lang="en-US" sz="2000" dirty="0">
              <a:solidFill>
                <a:srgbClr val="FFFFFF"/>
              </a:solidFill>
              <a:latin typeface="Nourd"/>
              <a:ea typeface="Nourd"/>
              <a:cs typeface="Nourd"/>
              <a:sym typeface="Nourd"/>
            </a:endParaRPr>
          </a:p>
        </p:txBody>
      </p:sp>
      <p:grpSp>
        <p:nvGrpSpPr>
          <p:cNvPr id="32" name="Group 9">
            <a:extLst>
              <a:ext uri="{FF2B5EF4-FFF2-40B4-BE49-F238E27FC236}">
                <a16:creationId xmlns:a16="http://schemas.microsoft.com/office/drawing/2014/main" id="{27365106-9226-4901-E58D-B668448BE598}"/>
              </a:ext>
            </a:extLst>
          </p:cNvPr>
          <p:cNvGrpSpPr/>
          <p:nvPr/>
        </p:nvGrpSpPr>
        <p:grpSpPr>
          <a:xfrm>
            <a:off x="12082874" y="7340830"/>
            <a:ext cx="1972012" cy="1294133"/>
            <a:chOff x="0" y="0"/>
            <a:chExt cx="812800" cy="533400"/>
          </a:xfrm>
        </p:grpSpPr>
        <p:sp>
          <p:nvSpPr>
            <p:cNvPr id="33" name="Freeform 10">
              <a:extLst>
                <a:ext uri="{FF2B5EF4-FFF2-40B4-BE49-F238E27FC236}">
                  <a16:creationId xmlns:a16="http://schemas.microsoft.com/office/drawing/2014/main" id="{FCF5BA08-71D7-84A4-8562-1674262630D1}"/>
                </a:ext>
              </a:extLst>
            </p:cNvPr>
            <p:cNvSpPr/>
            <p:nvPr/>
          </p:nvSpPr>
          <p:spPr>
            <a:xfrm>
              <a:off x="0" y="0"/>
              <a:ext cx="812800" cy="533400"/>
            </a:xfrm>
            <a:custGeom>
              <a:avLst/>
              <a:gdLst/>
              <a:ahLst/>
              <a:cxnLst/>
              <a:rect l="l" t="t" r="r" b="b"/>
              <a:pathLst>
                <a:path w="812800" h="533400">
                  <a:moveTo>
                    <a:pt x="273050" y="0"/>
                  </a:moveTo>
                  <a:lnTo>
                    <a:pt x="0" y="266700"/>
                  </a:lnTo>
                  <a:lnTo>
                    <a:pt x="273050" y="533400"/>
                  </a:lnTo>
                  <a:lnTo>
                    <a:pt x="273050" y="400050"/>
                  </a:lnTo>
                  <a:lnTo>
                    <a:pt x="539750" y="400050"/>
                  </a:lnTo>
                  <a:lnTo>
                    <a:pt x="539750" y="533400"/>
                  </a:lnTo>
                  <a:lnTo>
                    <a:pt x="812800" y="266700"/>
                  </a:lnTo>
                  <a:lnTo>
                    <a:pt x="539750" y="0"/>
                  </a:lnTo>
                  <a:lnTo>
                    <a:pt x="539750" y="133350"/>
                  </a:lnTo>
                  <a:lnTo>
                    <a:pt x="273050" y="133350"/>
                  </a:lnTo>
                  <a:lnTo>
                    <a:pt x="273050" y="0"/>
                  </a:lnTo>
                  <a:close/>
                </a:path>
              </a:pathLst>
            </a:custGeom>
            <a:solidFill>
              <a:srgbClr val="2C2C2C"/>
            </a:solidFill>
          </p:spPr>
          <p:txBody>
            <a:bodyPr/>
            <a:lstStyle/>
            <a:p>
              <a:endParaRPr lang="en-US"/>
            </a:p>
          </p:txBody>
        </p:sp>
        <p:sp>
          <p:nvSpPr>
            <p:cNvPr id="34" name="TextBox 11">
              <a:extLst>
                <a:ext uri="{FF2B5EF4-FFF2-40B4-BE49-F238E27FC236}">
                  <a16:creationId xmlns:a16="http://schemas.microsoft.com/office/drawing/2014/main" id="{6E44CCED-5C5D-4959-84DC-BD1F1C71BF71}"/>
                </a:ext>
              </a:extLst>
            </p:cNvPr>
            <p:cNvSpPr txBox="1"/>
            <p:nvPr/>
          </p:nvSpPr>
          <p:spPr>
            <a:xfrm>
              <a:off x="101600" y="130175"/>
              <a:ext cx="609600" cy="263525"/>
            </a:xfrm>
            <a:prstGeom prst="rect">
              <a:avLst/>
            </a:prstGeom>
          </p:spPr>
          <p:txBody>
            <a:bodyPr lIns="50800" tIns="50800" rIns="50800" bIns="50800" rtlCol="0" anchor="ctr"/>
            <a:lstStyle/>
            <a:p>
              <a:pPr algn="ctr">
                <a:lnSpc>
                  <a:spcPts val="2600"/>
                </a:lnSpc>
              </a:pPr>
              <a:endParaRPr/>
            </a:p>
          </p:txBody>
        </p:sp>
      </p:grpSp>
      <p:sp>
        <p:nvSpPr>
          <p:cNvPr id="35" name="TextBox 22">
            <a:extLst>
              <a:ext uri="{FF2B5EF4-FFF2-40B4-BE49-F238E27FC236}">
                <a16:creationId xmlns:a16="http://schemas.microsoft.com/office/drawing/2014/main" id="{7513357A-3A52-2E1C-32FC-C1187F0F811D}"/>
              </a:ext>
            </a:extLst>
          </p:cNvPr>
          <p:cNvSpPr txBox="1"/>
          <p:nvPr/>
        </p:nvSpPr>
        <p:spPr>
          <a:xfrm>
            <a:off x="543483" y="7340830"/>
            <a:ext cx="6222775" cy="978473"/>
          </a:xfrm>
          <a:prstGeom prst="rect">
            <a:avLst/>
          </a:prstGeom>
        </p:spPr>
        <p:txBody>
          <a:bodyPr wrap="square" lIns="0" tIns="0" rIns="0" bIns="0" rtlCol="0" anchor="t">
            <a:spAutoFit/>
          </a:bodyPr>
          <a:lstStyle/>
          <a:p>
            <a:pPr algn="l">
              <a:lnSpc>
                <a:spcPts val="2600"/>
              </a:lnSpc>
            </a:pPr>
            <a:r>
              <a:rPr lang="en-US" sz="2000" dirty="0">
                <a:solidFill>
                  <a:srgbClr val="2C2C2C"/>
                </a:solidFill>
                <a:latin typeface="Nourd"/>
              </a:rPr>
              <a:t>These findings implicate the importance of integrating user activity and demographic factors into ad targeting strategies for more effective engagement.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721316">
            <a:off x="2330151" y="5404475"/>
            <a:ext cx="3721695" cy="3675403"/>
          </a:xfrm>
          <a:custGeom>
            <a:avLst/>
            <a:gdLst/>
            <a:ahLst/>
            <a:cxnLst/>
            <a:rect l="l" t="t" r="r" b="b"/>
            <a:pathLst>
              <a:path w="3186957" h="3239975">
                <a:moveTo>
                  <a:pt x="0" y="0"/>
                </a:moveTo>
                <a:lnTo>
                  <a:pt x="3186957" y="0"/>
                </a:lnTo>
                <a:lnTo>
                  <a:pt x="3186957" y="3239975"/>
                </a:lnTo>
                <a:lnTo>
                  <a:pt x="0" y="32399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572576" y="3527673"/>
            <a:ext cx="6743699" cy="3231654"/>
          </a:xfrm>
          <a:prstGeom prst="rect">
            <a:avLst/>
          </a:prstGeom>
        </p:spPr>
        <p:txBody>
          <a:bodyPr wrap="square" lIns="0" tIns="0" rIns="0" bIns="0" rtlCol="0" anchor="t">
            <a:spAutoFit/>
          </a:bodyPr>
          <a:lstStyle/>
          <a:p>
            <a:pPr marL="0" lvl="0" indent="0" algn="l">
              <a:lnSpc>
                <a:spcPts val="12605"/>
              </a:lnSpc>
              <a:spcBef>
                <a:spcPct val="0"/>
              </a:spcBef>
            </a:pPr>
            <a:r>
              <a:rPr lang="en-US" sz="10504" dirty="0">
                <a:solidFill>
                  <a:srgbClr val="2C2C2C"/>
                </a:solidFill>
                <a:latin typeface="Nourd Semi-Bold"/>
                <a:ea typeface="Nourd Semi-Bold"/>
                <a:cs typeface="Nourd Semi-Bold"/>
                <a:sym typeface="Nourd Semi-Bold"/>
              </a:rPr>
              <a:t>Research Discussion </a:t>
            </a:r>
          </a:p>
        </p:txBody>
      </p:sp>
      <p:sp>
        <p:nvSpPr>
          <p:cNvPr id="4" name="AutoShape 4"/>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5" name="AutoShape 5"/>
          <p:cNvSpPr/>
          <p:nvPr/>
        </p:nvSpPr>
        <p:spPr>
          <a:xfrm>
            <a:off x="7872143" y="1202667"/>
            <a:ext cx="10415857" cy="9084333"/>
          </a:xfrm>
          <a:prstGeom prst="rect">
            <a:avLst/>
          </a:prstGeom>
          <a:solidFill>
            <a:srgbClr val="EDF0F2"/>
          </a:solidFill>
        </p:spPr>
        <p:txBody>
          <a:bodyPr/>
          <a:lstStyle/>
          <a:p>
            <a:endParaRPr lang="en-US" dirty="0"/>
          </a:p>
        </p:txBody>
      </p:sp>
      <p:sp>
        <p:nvSpPr>
          <p:cNvPr id="6" name="AutoShape 6"/>
          <p:cNvSpPr/>
          <p:nvPr/>
        </p:nvSpPr>
        <p:spPr>
          <a:xfrm rot="-5400000">
            <a:off x="3329977" y="5725784"/>
            <a:ext cx="9084333"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8" name="TextBox 8"/>
          <p:cNvSpPr txBox="1"/>
          <p:nvPr/>
        </p:nvSpPr>
        <p:spPr>
          <a:xfrm>
            <a:off x="8305799" y="1663435"/>
            <a:ext cx="5486399" cy="448584"/>
          </a:xfrm>
          <a:prstGeom prst="rect">
            <a:avLst/>
          </a:prstGeom>
        </p:spPr>
        <p:txBody>
          <a:bodyPr wrap="square" lIns="0" tIns="0" rIns="0" bIns="0" rtlCol="0" anchor="t">
            <a:spAutoFit/>
          </a:bodyPr>
          <a:lstStyle/>
          <a:p>
            <a:pPr>
              <a:lnSpc>
                <a:spcPts val="3780"/>
              </a:lnSpc>
            </a:pPr>
            <a:r>
              <a:rPr lang="en-US" sz="2700" dirty="0">
                <a:solidFill>
                  <a:srgbClr val="2C2C2C"/>
                </a:solidFill>
                <a:latin typeface="Nourd Bold"/>
              </a:rPr>
              <a:t>Model Results and Trade offs:</a:t>
            </a:r>
          </a:p>
        </p:txBody>
      </p:sp>
      <p:sp>
        <p:nvSpPr>
          <p:cNvPr id="9" name="TextBox 9"/>
          <p:cNvSpPr txBox="1"/>
          <p:nvPr/>
        </p:nvSpPr>
        <p:spPr>
          <a:xfrm>
            <a:off x="8044622" y="2247900"/>
            <a:ext cx="9670791" cy="3091231"/>
          </a:xfrm>
          <a:prstGeom prst="rect">
            <a:avLst/>
          </a:prstGeom>
        </p:spPr>
        <p:txBody>
          <a:bodyPr wrap="square" lIns="0" tIns="0" rIns="0" bIns="0" rtlCol="0" anchor="t">
            <a:spAutoFit/>
          </a:bodyPr>
          <a:lstStyle/>
          <a:p>
            <a:pPr marL="539751" lvl="1" indent="-269876">
              <a:lnSpc>
                <a:spcPts val="3500"/>
              </a:lnSpc>
              <a:buFont typeface="Arial"/>
              <a:buChar char="•"/>
            </a:pPr>
            <a:r>
              <a:rPr lang="en-US" sz="2000" dirty="0">
                <a:solidFill>
                  <a:srgbClr val="2C2C2C"/>
                </a:solidFill>
                <a:latin typeface="Nourd"/>
              </a:rPr>
              <a:t>Random Forest (RF): It is ideal for targeting a broad user base across various demographic segments. It provides a reliable mix of accuracy and recall, making it suitable for general ad targeting strategies.</a:t>
            </a:r>
          </a:p>
          <a:p>
            <a:pPr marL="539751" lvl="1" indent="-269876">
              <a:lnSpc>
                <a:spcPts val="3500"/>
              </a:lnSpc>
              <a:buFont typeface="Arial"/>
              <a:buChar char="•"/>
            </a:pPr>
            <a:r>
              <a:rPr lang="en-US" sz="2000" dirty="0">
                <a:solidFill>
                  <a:srgbClr val="2C2C2C"/>
                </a:solidFill>
                <a:latin typeface="Nourd"/>
              </a:rPr>
              <a:t>Support Vector Machine (SVM): Best suited for engagement-driven campaigns where the focus is on maximizing user interactions and click-through rates. SVM excels in identifying true positives, ensuring that ad content reaches the most responsive users, therefore increasing CTR and improving campaign efficiency.</a:t>
            </a:r>
            <a:endParaRPr lang="en-US" sz="2500" dirty="0">
              <a:solidFill>
                <a:srgbClr val="2C2C2C"/>
              </a:solidFill>
              <a:latin typeface="Nourd"/>
              <a:ea typeface="Nourd"/>
              <a:cs typeface="Nourd"/>
              <a:sym typeface="Nourd"/>
            </a:endParaRPr>
          </a:p>
        </p:txBody>
      </p:sp>
      <p:pic>
        <p:nvPicPr>
          <p:cNvPr id="10" name="image1.png" descr="A logo with blue text&#10;&#10;Description automatically generated">
            <a:extLst>
              <a:ext uri="{FF2B5EF4-FFF2-40B4-BE49-F238E27FC236}">
                <a16:creationId xmlns:a16="http://schemas.microsoft.com/office/drawing/2014/main" id="{92689630-9220-B6E2-1804-B48A9B64D9D2}"/>
              </a:ext>
            </a:extLst>
          </p:cNvPr>
          <p:cNvPicPr/>
          <p:nvPr/>
        </p:nvPicPr>
        <p:blipFill>
          <a:blip r:embed="rId4"/>
          <a:srcRect/>
          <a:stretch>
            <a:fillRect/>
          </a:stretch>
        </p:blipFill>
        <p:spPr>
          <a:xfrm>
            <a:off x="15851588" y="103538"/>
            <a:ext cx="1589741" cy="889385"/>
          </a:xfrm>
          <a:prstGeom prst="rect">
            <a:avLst/>
          </a:prstGeom>
          <a:ln/>
        </p:spPr>
      </p:pic>
      <p:sp>
        <p:nvSpPr>
          <p:cNvPr id="11" name="TextBox 9">
            <a:extLst>
              <a:ext uri="{FF2B5EF4-FFF2-40B4-BE49-F238E27FC236}">
                <a16:creationId xmlns:a16="http://schemas.microsoft.com/office/drawing/2014/main" id="{ABBEF5D1-EB5C-B80D-E810-704641BD814A}"/>
              </a:ext>
            </a:extLst>
          </p:cNvPr>
          <p:cNvSpPr txBox="1"/>
          <p:nvPr/>
        </p:nvSpPr>
        <p:spPr>
          <a:xfrm>
            <a:off x="8046799" y="6098981"/>
            <a:ext cx="9670791" cy="1744708"/>
          </a:xfrm>
          <a:prstGeom prst="rect">
            <a:avLst/>
          </a:prstGeom>
        </p:spPr>
        <p:txBody>
          <a:bodyPr wrap="square" lIns="0" tIns="0" rIns="0" bIns="0" rtlCol="0" anchor="t">
            <a:spAutoFit/>
          </a:bodyPr>
          <a:lstStyle/>
          <a:p>
            <a:pPr marL="539751" lvl="1" indent="-269876">
              <a:lnSpc>
                <a:spcPts val="3500"/>
              </a:lnSpc>
              <a:buFont typeface="Arial"/>
              <a:buChar char="•"/>
            </a:pPr>
            <a:r>
              <a:rPr lang="en-US" sz="2000" b="1" dirty="0">
                <a:solidFill>
                  <a:srgbClr val="2C2C2C"/>
                </a:solidFill>
                <a:latin typeface="Nourd"/>
              </a:rPr>
              <a:t>Personalize Ads: </a:t>
            </a:r>
            <a:r>
              <a:rPr lang="en-US" sz="2000" dirty="0">
                <a:solidFill>
                  <a:srgbClr val="2C2C2C"/>
                </a:solidFill>
                <a:latin typeface="Nourd"/>
              </a:rPr>
              <a:t>Leverage key predictors like age and daily internet usage to craft tailored ads that resonate with specific user segments.</a:t>
            </a:r>
          </a:p>
          <a:p>
            <a:pPr marL="539751" lvl="1" indent="-269876">
              <a:lnSpc>
                <a:spcPts val="3500"/>
              </a:lnSpc>
              <a:buFont typeface="Arial"/>
              <a:buChar char="•"/>
            </a:pPr>
            <a:r>
              <a:rPr lang="en-US" sz="2000" b="1" dirty="0">
                <a:solidFill>
                  <a:srgbClr val="2C2C2C"/>
                </a:solidFill>
                <a:latin typeface="Nourd"/>
              </a:rPr>
              <a:t>Optimize Campaigns: </a:t>
            </a:r>
            <a:r>
              <a:rPr lang="en-US" sz="2000" dirty="0">
                <a:solidFill>
                  <a:srgbClr val="2C2C2C"/>
                </a:solidFill>
                <a:latin typeface="Nourd"/>
              </a:rPr>
              <a:t>Align ad content with user behavior patterns to boost relevance and increase click-through rates (CTR).</a:t>
            </a:r>
          </a:p>
        </p:txBody>
      </p:sp>
      <p:sp>
        <p:nvSpPr>
          <p:cNvPr id="12" name="TextBox 8">
            <a:extLst>
              <a:ext uri="{FF2B5EF4-FFF2-40B4-BE49-F238E27FC236}">
                <a16:creationId xmlns:a16="http://schemas.microsoft.com/office/drawing/2014/main" id="{55ADD53C-83A7-5039-DAE4-81216C162E5F}"/>
              </a:ext>
            </a:extLst>
          </p:cNvPr>
          <p:cNvSpPr txBox="1"/>
          <p:nvPr/>
        </p:nvSpPr>
        <p:spPr>
          <a:xfrm>
            <a:off x="8305799" y="5582292"/>
            <a:ext cx="5486399" cy="448584"/>
          </a:xfrm>
          <a:prstGeom prst="rect">
            <a:avLst/>
          </a:prstGeom>
        </p:spPr>
        <p:txBody>
          <a:bodyPr wrap="square" lIns="0" tIns="0" rIns="0" bIns="0" rtlCol="0" anchor="t">
            <a:spAutoFit/>
          </a:bodyPr>
          <a:lstStyle/>
          <a:p>
            <a:pPr>
              <a:lnSpc>
                <a:spcPts val="3780"/>
              </a:lnSpc>
            </a:pPr>
            <a:r>
              <a:rPr lang="en-US" sz="2700" dirty="0">
                <a:solidFill>
                  <a:srgbClr val="2C2C2C"/>
                </a:solidFill>
                <a:latin typeface="Nourd Bold"/>
              </a:rPr>
              <a:t>Practical Applications:</a:t>
            </a:r>
          </a:p>
        </p:txBody>
      </p:sp>
      <p:sp>
        <p:nvSpPr>
          <p:cNvPr id="13" name="TextBox 9">
            <a:extLst>
              <a:ext uri="{FF2B5EF4-FFF2-40B4-BE49-F238E27FC236}">
                <a16:creationId xmlns:a16="http://schemas.microsoft.com/office/drawing/2014/main" id="{CA303123-AD92-F89A-42EE-3D7F5A060893}"/>
              </a:ext>
            </a:extLst>
          </p:cNvPr>
          <p:cNvSpPr txBox="1"/>
          <p:nvPr/>
        </p:nvSpPr>
        <p:spPr>
          <a:xfrm>
            <a:off x="8044623" y="8512819"/>
            <a:ext cx="9670790" cy="1311256"/>
          </a:xfrm>
          <a:prstGeom prst="rect">
            <a:avLst/>
          </a:prstGeom>
        </p:spPr>
        <p:txBody>
          <a:bodyPr wrap="square" lIns="0" tIns="0" rIns="0" bIns="0" rtlCol="0" anchor="t">
            <a:spAutoFit/>
          </a:bodyPr>
          <a:lstStyle/>
          <a:p>
            <a:pPr marL="269875" lvl="1">
              <a:lnSpc>
                <a:spcPts val="3500"/>
              </a:lnSpc>
            </a:pPr>
            <a:r>
              <a:rPr lang="en-US" sz="2000" dirty="0">
                <a:solidFill>
                  <a:srgbClr val="2C2C2C"/>
                </a:solidFill>
                <a:latin typeface="Nourd"/>
              </a:rPr>
              <a:t>Expand model effectiveness by incorporating complex datasets such as browsing history and social media activity to further refine targeting and engagement strategies to further improve CTR prediction.</a:t>
            </a:r>
          </a:p>
        </p:txBody>
      </p:sp>
      <p:sp>
        <p:nvSpPr>
          <p:cNvPr id="14" name="TextBox 8">
            <a:extLst>
              <a:ext uri="{FF2B5EF4-FFF2-40B4-BE49-F238E27FC236}">
                <a16:creationId xmlns:a16="http://schemas.microsoft.com/office/drawing/2014/main" id="{400E33D2-8179-8B4A-D1EB-9DACF173C832}"/>
              </a:ext>
            </a:extLst>
          </p:cNvPr>
          <p:cNvSpPr txBox="1"/>
          <p:nvPr/>
        </p:nvSpPr>
        <p:spPr>
          <a:xfrm>
            <a:off x="8305799" y="8064235"/>
            <a:ext cx="5486399" cy="448584"/>
          </a:xfrm>
          <a:prstGeom prst="rect">
            <a:avLst/>
          </a:prstGeom>
        </p:spPr>
        <p:txBody>
          <a:bodyPr wrap="square" lIns="0" tIns="0" rIns="0" bIns="0" rtlCol="0" anchor="t">
            <a:spAutoFit/>
          </a:bodyPr>
          <a:lstStyle/>
          <a:p>
            <a:pPr>
              <a:lnSpc>
                <a:spcPts val="3780"/>
              </a:lnSpc>
            </a:pPr>
            <a:r>
              <a:rPr lang="en-US" sz="2700" dirty="0">
                <a:solidFill>
                  <a:srgbClr val="2C2C2C"/>
                </a:solidFill>
                <a:latin typeface="Nourd Bold"/>
              </a:rPr>
              <a:t>Future Directions: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1471297" y="2638557"/>
            <a:ext cx="5012831" cy="5115134"/>
          </a:xfrm>
          <a:custGeom>
            <a:avLst/>
            <a:gdLst/>
            <a:ahLst/>
            <a:cxnLst/>
            <a:rect l="l" t="t" r="r" b="b"/>
            <a:pathLst>
              <a:path w="5012831" h="5115134">
                <a:moveTo>
                  <a:pt x="0" y="0"/>
                </a:moveTo>
                <a:lnTo>
                  <a:pt x="5012831" y="0"/>
                </a:lnTo>
                <a:lnTo>
                  <a:pt x="5012831" y="5115134"/>
                </a:lnTo>
                <a:lnTo>
                  <a:pt x="0" y="51151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1028700" y="4495808"/>
            <a:ext cx="6189017" cy="1308050"/>
          </a:xfrm>
          <a:prstGeom prst="rect">
            <a:avLst/>
          </a:prstGeom>
        </p:spPr>
        <p:txBody>
          <a:bodyPr lIns="0" tIns="0" rIns="0" bIns="0" rtlCol="0" anchor="t">
            <a:spAutoFit/>
          </a:bodyPr>
          <a:lstStyle/>
          <a:p>
            <a:pPr marL="0" lvl="0" indent="0" algn="l">
              <a:lnSpc>
                <a:spcPts val="10200"/>
              </a:lnSpc>
              <a:spcBef>
                <a:spcPct val="0"/>
              </a:spcBef>
            </a:pPr>
            <a:r>
              <a:rPr lang="en-US" sz="8500" dirty="0">
                <a:solidFill>
                  <a:srgbClr val="2C2C2C"/>
                </a:solidFill>
                <a:latin typeface="Nourd Semi-Bold"/>
                <a:ea typeface="Nourd Semi-Bold"/>
                <a:cs typeface="Nourd Semi-Bold"/>
                <a:sym typeface="Nourd Semi-Bold"/>
              </a:rPr>
              <a:t>Conclusion</a:t>
            </a:r>
            <a:endParaRPr lang="en-US" sz="8500" u="none" dirty="0">
              <a:solidFill>
                <a:srgbClr val="2C2C2C"/>
              </a:solidFill>
              <a:latin typeface="Nourd Semi-Bold"/>
              <a:ea typeface="Nourd Semi-Bold"/>
              <a:cs typeface="Nourd Semi-Bold"/>
              <a:sym typeface="Nourd Semi-Bold"/>
            </a:endParaRPr>
          </a:p>
        </p:txBody>
      </p:sp>
      <p:sp>
        <p:nvSpPr>
          <p:cNvPr id="6" name="TextBox 6"/>
          <p:cNvSpPr txBox="1"/>
          <p:nvPr/>
        </p:nvSpPr>
        <p:spPr>
          <a:xfrm>
            <a:off x="9677428" y="7412394"/>
            <a:ext cx="8000971" cy="1703159"/>
          </a:xfrm>
          <a:prstGeom prst="rect">
            <a:avLst/>
          </a:prstGeom>
        </p:spPr>
        <p:txBody>
          <a:bodyPr wrap="square" lIns="0" tIns="0" rIns="0" bIns="0" rtlCol="0" anchor="t">
            <a:spAutoFit/>
          </a:bodyPr>
          <a:lstStyle/>
          <a:p>
            <a:pPr>
              <a:lnSpc>
                <a:spcPts val="2660"/>
              </a:lnSpc>
            </a:pPr>
            <a:r>
              <a:rPr lang="en-US" sz="2000" dirty="0">
                <a:solidFill>
                  <a:srgbClr val="2C2C2C"/>
                </a:solidFill>
                <a:latin typeface="Nourd"/>
              </a:rPr>
              <a:t>Machine learning is transforming digital marketing by providing powerful tools to predict CTR more accurately. These advancements with more trained models will enable more effective targeting strategies, improving user engagement, and driving a higher Return on Investment (ROI) for marketing campaigns.</a:t>
            </a:r>
            <a:endParaRPr lang="en-US" sz="2000" dirty="0">
              <a:solidFill>
                <a:srgbClr val="2C2C2C"/>
              </a:solidFill>
              <a:latin typeface="Nourd"/>
              <a:sym typeface="Nourd"/>
            </a:endParaRPr>
          </a:p>
        </p:txBody>
      </p:sp>
      <p:sp>
        <p:nvSpPr>
          <p:cNvPr id="7" name="AutoShape 7"/>
          <p:cNvSpPr/>
          <p:nvPr/>
        </p:nvSpPr>
        <p:spPr>
          <a:xfrm>
            <a:off x="-408731" y="1193142"/>
            <a:ext cx="18875389"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9" name="Freeform 9"/>
          <p:cNvSpPr/>
          <p:nvPr/>
        </p:nvSpPr>
        <p:spPr>
          <a:xfrm rot="-5839484">
            <a:off x="8972036" y="6724379"/>
            <a:ext cx="449959" cy="575529"/>
          </a:xfrm>
          <a:custGeom>
            <a:avLst/>
            <a:gdLst/>
            <a:ahLst/>
            <a:cxnLst/>
            <a:rect l="l" t="t" r="r" b="b"/>
            <a:pathLst>
              <a:path w="449959" h="575529">
                <a:moveTo>
                  <a:pt x="0" y="0"/>
                </a:moveTo>
                <a:lnTo>
                  <a:pt x="449959" y="0"/>
                </a:lnTo>
                <a:lnTo>
                  <a:pt x="449959" y="575529"/>
                </a:lnTo>
                <a:lnTo>
                  <a:pt x="0" y="5755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AutoShape 10"/>
          <p:cNvSpPr/>
          <p:nvPr/>
        </p:nvSpPr>
        <p:spPr>
          <a:xfrm rot="-5400000">
            <a:off x="3478284" y="5730546"/>
            <a:ext cx="9084333" cy="0"/>
          </a:xfrm>
          <a:prstGeom prst="line">
            <a:avLst/>
          </a:prstGeom>
          <a:ln w="9525" cap="flat">
            <a:solidFill>
              <a:srgbClr val="2C2C2C">
                <a:alpha val="29804"/>
              </a:srgbClr>
            </a:solidFill>
            <a:prstDash val="solid"/>
            <a:headEnd type="none" w="sm" len="sm"/>
            <a:tailEnd type="none" w="sm" len="sm"/>
          </a:ln>
        </p:spPr>
        <p:txBody>
          <a:bodyPr/>
          <a:lstStyle/>
          <a:p>
            <a:endParaRPr lang="en-US"/>
          </a:p>
        </p:txBody>
      </p:sp>
      <p:sp>
        <p:nvSpPr>
          <p:cNvPr id="11" name="Freeform 11"/>
          <p:cNvSpPr/>
          <p:nvPr/>
        </p:nvSpPr>
        <p:spPr>
          <a:xfrm>
            <a:off x="8935936" y="1943100"/>
            <a:ext cx="522163" cy="574380"/>
          </a:xfrm>
          <a:custGeom>
            <a:avLst/>
            <a:gdLst/>
            <a:ahLst/>
            <a:cxnLst/>
            <a:rect l="l" t="t" r="r" b="b"/>
            <a:pathLst>
              <a:path w="522163" h="574380">
                <a:moveTo>
                  <a:pt x="0" y="0"/>
                </a:moveTo>
                <a:lnTo>
                  <a:pt x="522163" y="0"/>
                </a:lnTo>
                <a:lnTo>
                  <a:pt x="522163" y="574379"/>
                </a:lnTo>
                <a:lnTo>
                  <a:pt x="0" y="5743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pic>
        <p:nvPicPr>
          <p:cNvPr id="13" name="image1.png" descr="A logo with blue text&#10;&#10;Description automatically generated">
            <a:extLst>
              <a:ext uri="{FF2B5EF4-FFF2-40B4-BE49-F238E27FC236}">
                <a16:creationId xmlns:a16="http://schemas.microsoft.com/office/drawing/2014/main" id="{6A4F2AB3-49A9-ADA5-646F-AD2EAC12D79E}"/>
              </a:ext>
            </a:extLst>
          </p:cNvPr>
          <p:cNvPicPr/>
          <p:nvPr/>
        </p:nvPicPr>
        <p:blipFill>
          <a:blip r:embed="rId9"/>
          <a:srcRect/>
          <a:stretch>
            <a:fillRect/>
          </a:stretch>
        </p:blipFill>
        <p:spPr>
          <a:xfrm>
            <a:off x="15851588" y="103538"/>
            <a:ext cx="1589741" cy="889385"/>
          </a:xfrm>
          <a:prstGeom prst="rect">
            <a:avLst/>
          </a:prstGeom>
          <a:ln/>
        </p:spPr>
      </p:pic>
      <p:sp>
        <p:nvSpPr>
          <p:cNvPr id="14" name="TextBox 6">
            <a:extLst>
              <a:ext uri="{FF2B5EF4-FFF2-40B4-BE49-F238E27FC236}">
                <a16:creationId xmlns:a16="http://schemas.microsoft.com/office/drawing/2014/main" id="{857764BB-EDCC-29F8-4D6D-1C4A4DA81CB6}"/>
              </a:ext>
            </a:extLst>
          </p:cNvPr>
          <p:cNvSpPr txBox="1"/>
          <p:nvPr/>
        </p:nvSpPr>
        <p:spPr>
          <a:xfrm>
            <a:off x="9664366" y="2669779"/>
            <a:ext cx="7594931" cy="2741904"/>
          </a:xfrm>
          <a:prstGeom prst="rect">
            <a:avLst/>
          </a:prstGeom>
        </p:spPr>
        <p:txBody>
          <a:bodyPr wrap="square" lIns="0" tIns="0" rIns="0" bIns="0" rtlCol="0" anchor="t">
            <a:spAutoFit/>
          </a:bodyPr>
          <a:lstStyle/>
          <a:p>
            <a:pPr>
              <a:lnSpc>
                <a:spcPts val="2660"/>
              </a:lnSpc>
            </a:pPr>
            <a:r>
              <a:rPr lang="en-US" sz="1900" dirty="0">
                <a:solidFill>
                  <a:srgbClr val="2C2C2C"/>
                </a:solidFill>
                <a:latin typeface="Nourd"/>
              </a:rPr>
              <a:t>Integrating user behavior and contextual data significantly enhances CTR prediction accuracy, providing valuable insights for more effective ad targeting. Both </a:t>
            </a:r>
            <a:r>
              <a:rPr lang="en-US" sz="1900" b="1" dirty="0">
                <a:solidFill>
                  <a:srgbClr val="2C2C2C"/>
                </a:solidFill>
                <a:latin typeface="Nourd"/>
              </a:rPr>
              <a:t>Random Forest (RF)</a:t>
            </a:r>
            <a:r>
              <a:rPr lang="en-US" sz="1900" dirty="0">
                <a:solidFill>
                  <a:srgbClr val="2C2C2C"/>
                </a:solidFill>
                <a:latin typeface="Nourd"/>
              </a:rPr>
              <a:t> and </a:t>
            </a:r>
            <a:r>
              <a:rPr lang="en-US" sz="1900" b="1" dirty="0">
                <a:solidFill>
                  <a:srgbClr val="2C2C2C"/>
                </a:solidFill>
                <a:latin typeface="Nourd"/>
              </a:rPr>
              <a:t>Support Vector Machine (SVM) </a:t>
            </a:r>
            <a:r>
              <a:rPr lang="en-US" sz="1900" dirty="0">
                <a:solidFill>
                  <a:srgbClr val="2C2C2C"/>
                </a:solidFill>
                <a:latin typeface="Nourd"/>
              </a:rPr>
              <a:t>models bring complementary strengths. RF excels in balanced performance, making it suitable for broad targeting, while SVM is more focused on optimizing engagement-driven campaigns by prioritizing click predictions and thereby making it more preferable for Click-Through Rate (CTR) prediction.</a:t>
            </a:r>
          </a:p>
        </p:txBody>
      </p:sp>
      <p:sp>
        <p:nvSpPr>
          <p:cNvPr id="15" name="TextBox 11">
            <a:extLst>
              <a:ext uri="{FF2B5EF4-FFF2-40B4-BE49-F238E27FC236}">
                <a16:creationId xmlns:a16="http://schemas.microsoft.com/office/drawing/2014/main" id="{60ED85B1-8995-50D4-C7B1-3A6AB7E8E0FD}"/>
              </a:ext>
            </a:extLst>
          </p:cNvPr>
          <p:cNvSpPr txBox="1"/>
          <p:nvPr/>
        </p:nvSpPr>
        <p:spPr>
          <a:xfrm>
            <a:off x="9664366" y="1963783"/>
            <a:ext cx="3543300" cy="431528"/>
          </a:xfrm>
          <a:prstGeom prst="rect">
            <a:avLst/>
          </a:prstGeom>
        </p:spPr>
        <p:txBody>
          <a:bodyPr wrap="square" lIns="0" tIns="0" rIns="0" bIns="0" rtlCol="0" anchor="t">
            <a:spAutoFit/>
          </a:bodyPr>
          <a:lstStyle>
            <a:defPPr>
              <a:defRPr lang="en-US"/>
            </a:defPPr>
            <a:lvl1pPr>
              <a:lnSpc>
                <a:spcPts val="3640"/>
              </a:lnSpc>
              <a:defRPr sz="2600">
                <a:solidFill>
                  <a:srgbClr val="2C2C2C"/>
                </a:solidFill>
                <a:latin typeface="Nourd Semi-Bold"/>
                <a:ea typeface="Nourd Semi-Bold"/>
                <a:cs typeface="Nourd Semi-Bold"/>
              </a:defRPr>
            </a:lvl1pPr>
          </a:lstStyle>
          <a:p>
            <a:r>
              <a:rPr lang="en-US" dirty="0"/>
              <a:t>Key Conclusion:</a:t>
            </a:r>
            <a:endParaRPr lang="en-US" dirty="0">
              <a:sym typeface="Nourd Semi-Bold"/>
            </a:endParaRPr>
          </a:p>
        </p:txBody>
      </p:sp>
      <p:sp>
        <p:nvSpPr>
          <p:cNvPr id="17" name="TextBox 11">
            <a:extLst>
              <a:ext uri="{FF2B5EF4-FFF2-40B4-BE49-F238E27FC236}">
                <a16:creationId xmlns:a16="http://schemas.microsoft.com/office/drawing/2014/main" id="{766033A8-85A5-F819-3C62-A98F63A7CA12}"/>
              </a:ext>
            </a:extLst>
          </p:cNvPr>
          <p:cNvSpPr txBox="1"/>
          <p:nvPr/>
        </p:nvSpPr>
        <p:spPr>
          <a:xfrm>
            <a:off x="9664366" y="6840447"/>
            <a:ext cx="3543300" cy="431528"/>
          </a:xfrm>
          <a:prstGeom prst="rect">
            <a:avLst/>
          </a:prstGeom>
        </p:spPr>
        <p:txBody>
          <a:bodyPr wrap="square" lIns="0" tIns="0" rIns="0" bIns="0" rtlCol="0" anchor="t">
            <a:spAutoFit/>
          </a:bodyPr>
          <a:lstStyle>
            <a:defPPr>
              <a:defRPr lang="en-US"/>
            </a:defPPr>
            <a:lvl1pPr>
              <a:lnSpc>
                <a:spcPts val="3640"/>
              </a:lnSpc>
              <a:defRPr sz="2600">
                <a:solidFill>
                  <a:srgbClr val="2C2C2C"/>
                </a:solidFill>
                <a:latin typeface="Nourd Semi-Bold"/>
                <a:ea typeface="Nourd Semi-Bold"/>
                <a:cs typeface="Nourd Semi-Bold"/>
              </a:defRPr>
            </a:lvl1pPr>
          </a:lstStyle>
          <a:p>
            <a:r>
              <a:rPr lang="en-US" dirty="0"/>
              <a:t>Final Thoughts:</a:t>
            </a:r>
            <a:endParaRPr lang="en-US" dirty="0">
              <a:sym typeface="Nourd Semi-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1167</Words>
  <Application>Microsoft Macintosh PowerPoint</Application>
  <PresentationFormat>Custom</PresentationFormat>
  <Paragraphs>85</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Nourd</vt:lpstr>
      <vt:lpstr>Nourd Semi-Bold</vt:lpstr>
      <vt:lpstr>Calibri</vt:lpstr>
      <vt:lpstr>Nourd Bold</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Blue Yellow Scribbles and Doodles College Thesis Education Presentation</dc:title>
  <cp:lastModifiedBy>AKASH JAYAKUMAR</cp:lastModifiedBy>
  <cp:revision>18</cp:revision>
  <dcterms:created xsi:type="dcterms:W3CDTF">2006-08-16T00:00:00Z</dcterms:created>
  <dcterms:modified xsi:type="dcterms:W3CDTF">2025-01-06T18:08:35Z</dcterms:modified>
  <dc:identifier>DAGLtLyF2qM</dc:identifier>
</cp:coreProperties>
</file>